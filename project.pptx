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9" r:id="rId3"/>
    <p:sldId id="258" r:id="rId4"/>
    <p:sldId id="262" r:id="rId5"/>
    <p:sldId id="274" r:id="rId6"/>
    <p:sldId id="260" r:id="rId7"/>
    <p:sldId id="263" r:id="rId8"/>
    <p:sldId id="261" r:id="rId9"/>
    <p:sldId id="265" r:id="rId10"/>
    <p:sldId id="264" r:id="rId11"/>
    <p:sldId id="266" r:id="rId12"/>
    <p:sldId id="275" r:id="rId13"/>
    <p:sldId id="276" r:id="rId14"/>
    <p:sldId id="277" r:id="rId15"/>
    <p:sldId id="278" r:id="rId16"/>
    <p:sldId id="279" r:id="rId17"/>
    <p:sldId id="280" r:id="rId18"/>
    <p:sldId id="281" r:id="rId19"/>
    <p:sldId id="282" r:id="rId20"/>
    <p:sldId id="293" r:id="rId21"/>
    <p:sldId id="283" r:id="rId22"/>
    <p:sldId id="294" r:id="rId23"/>
    <p:sldId id="284" r:id="rId24"/>
    <p:sldId id="295" r:id="rId25"/>
    <p:sldId id="285" r:id="rId26"/>
    <p:sldId id="296" r:id="rId27"/>
    <p:sldId id="286" r:id="rId28"/>
    <p:sldId id="297" r:id="rId29"/>
    <p:sldId id="287" r:id="rId30"/>
    <p:sldId id="298" r:id="rId31"/>
    <p:sldId id="288" r:id="rId32"/>
    <p:sldId id="299" r:id="rId33"/>
    <p:sldId id="289" r:id="rId34"/>
    <p:sldId id="300" r:id="rId35"/>
    <p:sldId id="290" r:id="rId36"/>
    <p:sldId id="301" r:id="rId37"/>
    <p:sldId id="291" r:id="rId38"/>
    <p:sldId id="302" r:id="rId39"/>
    <p:sldId id="269" r:id="rId40"/>
    <p:sldId id="267" r:id="rId41"/>
    <p:sldId id="268" r:id="rId42"/>
    <p:sldId id="270" r:id="rId43"/>
    <p:sldId id="271" r:id="rId44"/>
    <p:sldId id="273" r:id="rId45"/>
    <p:sldId id="272" r:id="rId46"/>
    <p:sldId id="292" r:id="rId4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53" d="100"/>
          <a:sy n="53" d="100"/>
        </p:scale>
        <p:origin x="1176" y="1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B047E4-A087-34E1-543B-AA9342AE002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06B0ABE-A58B-3F8C-4926-913D0F6FCC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87F0D6-F688-CB6C-7C71-CE1A142179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621AE-5B42-4648-A89A-32428412D878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B78766-F237-A75E-6298-A0C02AB66E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15C6F0-888D-1212-B797-4C18FFF8E8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4DC79-DD75-4DDD-8F37-A8C2E38083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03541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8737F0-486F-FC87-9DA8-4CADAAE80B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825631-D99F-FD7D-4EC8-97F8E261C8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3389BB-25C5-FDE8-8CAE-7B2305FAE9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621AE-5B42-4648-A89A-32428412D878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9DF7C2-AB8B-B385-B97C-ACD9B062AD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A6C469-4853-696E-2BC2-C4BCC72591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4DC79-DD75-4DDD-8F37-A8C2E38083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30278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E701C-D90C-6AF4-7916-CB9C1A728E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2D8F98E-223E-183C-F9C5-F1A816118F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DADC46-83A7-F0CD-7528-C9C0C75F32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621AE-5B42-4648-A89A-32428412D878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C64006-AF4C-0FF2-72D9-02407332B3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7C1B21-095C-DC12-4318-0C852F3D4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4DC79-DD75-4DDD-8F37-A8C2E38083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34494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316967-44D1-32DB-53A0-2A9C9A0577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BDDF83-A9FD-DE9D-B2BD-039EA96B33B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8830F6A-A546-B0A3-1CB2-D61534416EC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C28216-1D64-0038-8441-3BBE94E7B9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621AE-5B42-4648-A89A-32428412D878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64C16A6-152D-7D1F-5B89-7C095AD6F1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AF7A5A0-4F65-23E7-1808-4077C26513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4DC79-DD75-4DDD-8F37-A8C2E38083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87250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DC16E9-A9B3-A4FD-1405-CE36F54741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1CA9CAF-68F0-4FF1-82E0-753A7031D0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026FDC-6402-A797-D9F6-3F2A4D3031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3B3BDF1-4E0C-6240-CCB0-6EC3727AE27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5A3A898-DC7C-186B-1D05-F0F5A09B18E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6A62226-21E8-EC2A-6804-4B2C2D1F96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621AE-5B42-4648-A89A-32428412D878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AB1B2CE-987F-1C77-8E83-CECDB35E82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9E628BE-4531-27DD-8EF6-C50C690B08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4DC79-DD75-4DDD-8F37-A8C2E38083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38426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318784-AC9A-E8B9-9914-6237C95B4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8982FE2-B0C1-B6C1-344F-F5D9DE07CF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621AE-5B42-4648-A89A-32428412D878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70AC09C-1680-61EB-FC6B-50D59A0329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21CD414-C14F-3C1D-597E-A0788EB4BF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4DC79-DD75-4DDD-8F37-A8C2E38083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95357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47A019E-D37E-665B-F34B-7D8DB9AD70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621AE-5B42-4648-A89A-32428412D878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FB7C12A-C080-1F56-25E9-0AE9AB7F4A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318F26-4389-5475-2801-07CBA16D28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4DC79-DD75-4DDD-8F37-A8C2E38083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2906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745780-68ED-509D-FD8F-F7658A748B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ACCCE9-5C97-4E73-0542-F3C322A3F2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C577B9-6335-28BD-2B6E-BFCC1CFD28A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9C83F29-1A4B-523C-2A39-5681FEBDD6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621AE-5B42-4648-A89A-32428412D878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4811C84-7FE4-AED7-3399-0774AAC72C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EFD78C3-680A-55E8-0F8C-B8A03EEBAA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4DC79-DD75-4DDD-8F37-A8C2E38083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51600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F0AA72-B08F-976C-1976-0D8BD3DB28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6C0DAAC-93CC-280F-49A8-33947B1A55D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D0814CF-45E9-6DA9-FBDE-4D4D5961B54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4AA61BC-22B2-81F3-D923-3C027D880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621AE-5B42-4648-A89A-32428412D878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B5758C6-CCF2-33F1-60E9-A7DF174FEF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46EE5B1-64DA-0411-ABCE-5FED9CB722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4DC79-DD75-4DDD-8F37-A8C2E38083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65467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CAC650-4AFE-D40B-C26B-D549B9686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54D0B83-BA18-39B0-896D-1CBC2F115E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B18D87-609E-6D2A-DC16-4C15B1477A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621AE-5B42-4648-A89A-32428412D878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848BE2-662B-EE26-71DB-68E668D8EA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3539FE-FB83-1BEF-B501-0D2D50A8EB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4DC79-DD75-4DDD-8F37-A8C2E38083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75532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2E930CE-5853-2BF3-93C7-1A1A5B82678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F202F7C-0AA4-6234-8CA8-9CAAC40C37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6285E5-7BC7-A6A3-9093-C54F382DD8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621AE-5B42-4648-A89A-32428412D878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BD1CF7-36BB-D33D-BD0F-EF75F63005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F0EABB-100D-01CD-16EC-8DB099C68F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4DC79-DD75-4DDD-8F37-A8C2E38083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57875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EEACC05-AD85-6794-9A45-4052636D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4974F6-5813-269D-922A-3B3BCBCD43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5FE833-47CE-642C-292C-0D954ADAD67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DC621AE-5B42-4648-A89A-32428412D878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43045C-61CB-A3B5-DC32-2A9AEBF9379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3886D4-A111-0031-1495-6FEEC036EE7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2D4DC79-DD75-4DDD-8F37-A8C2E38083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81319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wallpaperflare.com/cinema-film-projector-filmstrip-media-cinema-strip-movie-wallpaper-wadpk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imdb.com/" TargetMode="External"/><Relationship Id="rId2" Type="http://schemas.openxmlformats.org/officeDocument/2006/relationships/hyperlink" Target="https://www.boxofficemojo.com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themoviedb.org/" TargetMode="Externa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021E499-515B-A4FB-3CE3-D802AFC06CF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0" y="-4186"/>
            <a:ext cx="12192000" cy="68663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21343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6560D2-6F04-9605-FD4B-1BFD9CDCA2B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85257" y="1948543"/>
            <a:ext cx="9144000" cy="2547257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FILM GENRE ANALYSIS TO INFORM FILM PRODUCTION DECISIONS</a:t>
            </a:r>
          </a:p>
        </p:txBody>
      </p:sp>
    </p:spTree>
    <p:extLst>
      <p:ext uri="{BB962C8B-B14F-4D97-AF65-F5344CB8AC3E}">
        <p14:creationId xmlns:p14="http://schemas.microsoft.com/office/powerpoint/2010/main" val="13804376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A545AF-09FC-CC0F-3139-27FF88EC0B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DC8078-D317-BA1C-2A53-71A8575F41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This is an analysis of historical movie data to identify patterns</a:t>
            </a:r>
          </a:p>
          <a:p>
            <a:pPr marL="0" indent="0">
              <a:buNone/>
            </a:pP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 associated with financial success and positive audience reception.</a:t>
            </a:r>
          </a:p>
        </p:txBody>
      </p:sp>
    </p:spTree>
    <p:extLst>
      <p:ext uri="{BB962C8B-B14F-4D97-AF65-F5344CB8AC3E}">
        <p14:creationId xmlns:p14="http://schemas.microsoft.com/office/powerpoint/2010/main" val="28583389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AFBC99-BF2B-37EF-B2DD-8F31F08E8E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Business understanding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D3CEBB-A70F-6288-854F-2BE5DF6A8D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A company has come up with a new studio where they intend to create</a:t>
            </a: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 movies.</a:t>
            </a:r>
          </a:p>
          <a:p>
            <a:pPr marL="0" indent="0">
              <a:buNone/>
            </a:pP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They are new to the movie creation space and therefore need to know</a:t>
            </a: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 the type of films that are doing the best at the box office.</a:t>
            </a:r>
          </a:p>
          <a:p>
            <a:pPr marL="0" indent="0">
              <a:buNone/>
            </a:pP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This will help the head of the company’s new studio decide on the type of films to create.</a:t>
            </a:r>
          </a:p>
        </p:txBody>
      </p:sp>
    </p:spTree>
    <p:extLst>
      <p:ext uri="{BB962C8B-B14F-4D97-AF65-F5344CB8AC3E}">
        <p14:creationId xmlns:p14="http://schemas.microsoft.com/office/powerpoint/2010/main" val="30142499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5DF4D1-39F4-1E63-28FA-7F0FAC2A27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F20F88-1783-EE4B-3BD8-84CFD1BF5B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The project aims to analyze historical movie data to identify patterns</a:t>
            </a: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 associated with financial success and positive audience reception.</a:t>
            </a:r>
          </a:p>
          <a:p>
            <a:pPr marL="0" indent="0">
              <a:buNone/>
            </a:pP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This will be through the use of  box office performance and audience</a:t>
            </a: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 ratings.</a:t>
            </a:r>
          </a:p>
        </p:txBody>
      </p:sp>
    </p:spTree>
    <p:extLst>
      <p:ext uri="{BB962C8B-B14F-4D97-AF65-F5344CB8AC3E}">
        <p14:creationId xmlns:p14="http://schemas.microsoft.com/office/powerpoint/2010/main" val="20452928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2B72D6-3363-1B04-74DF-DE5E69DE08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Key questions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698DB5-3EEA-19F1-5596-08077B0295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tx2"/>
                </a:solidFill>
              </a:rPr>
              <a:t>Which movie genres consistently perform best at the box office?</a:t>
            </a:r>
          </a:p>
          <a:p>
            <a:endParaRPr lang="en-US" dirty="0">
              <a:solidFill>
                <a:schemeClr val="tx2"/>
              </a:solidFill>
            </a:endParaRPr>
          </a:p>
          <a:p>
            <a:r>
              <a:rPr lang="en-US" dirty="0">
                <a:solidFill>
                  <a:schemeClr val="tx2"/>
                </a:solidFill>
              </a:rPr>
              <a:t>How does audience reception (ratings and engagement) relate to financial success?</a:t>
            </a:r>
          </a:p>
          <a:p>
            <a:endParaRPr lang="en-US" dirty="0">
              <a:solidFill>
                <a:schemeClr val="tx2"/>
              </a:solidFill>
            </a:endParaRPr>
          </a:p>
          <a:p>
            <a:r>
              <a:rPr lang="en-US" dirty="0">
                <a:solidFill>
                  <a:schemeClr val="tx2"/>
                </a:solidFill>
              </a:rPr>
              <a:t>What movie characteristics (such as runtime or release trends) are most associated with successful films?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48462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BB40EC-EC06-F0DC-D881-96E402A0AE3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Data Understanding</a:t>
            </a:r>
          </a:p>
        </p:txBody>
      </p:sp>
    </p:spTree>
    <p:extLst>
      <p:ext uri="{BB962C8B-B14F-4D97-AF65-F5344CB8AC3E}">
        <p14:creationId xmlns:p14="http://schemas.microsoft.com/office/powerpoint/2010/main" val="40196871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B7B792-4B1C-524A-7937-279E4F5E82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Data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2B7F5A-2490-5A08-25F9-613BC4EC57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This analysis made use of 3 key datasets;</a:t>
            </a:r>
          </a:p>
          <a:p>
            <a:pPr marL="0" indent="0">
              <a:buNone/>
            </a:pP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pPr>
              <a:buFont typeface="Wingdings" panose="05000000000000000000" pitchFamily="2" charset="2"/>
              <a:buChar char="q"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  <a:hlinkClick r:id="rId2"/>
              </a:rPr>
              <a:t>https://www.boxofficemojo.com/</a:t>
            </a: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pPr>
              <a:buFont typeface="Wingdings" panose="05000000000000000000" pitchFamily="2" charset="2"/>
              <a:buChar char="q"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  <a:hlinkClick r:id="rId3"/>
              </a:rPr>
              <a:t>https://www.imdb.com/</a:t>
            </a: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pPr>
              <a:buFont typeface="Wingdings" panose="05000000000000000000" pitchFamily="2" charset="2"/>
              <a:buChar char="q"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  <a:hlinkClick r:id="rId4"/>
              </a:rPr>
              <a:t>https://www.themoviedb.org/</a:t>
            </a: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This well recognized sources of data ensured that different facets of</a:t>
            </a: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 film production were considered, hence a well-rounded analysis.</a:t>
            </a:r>
          </a:p>
          <a:p>
            <a:pPr marL="0" indent="0">
              <a:buNone/>
            </a:pP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endParaRPr lang="en-US" dirty="0">
              <a:solidFill>
                <a:schemeClr val="tx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625377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DA0C1-7AE2-9B29-35B5-BE5D92F4E0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Box Office Mojo Dataset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41AED1-A07C-9C66-9656-A4AB0B29A4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This dataset contains box office revenue data for movies.</a:t>
            </a:r>
          </a:p>
          <a:p>
            <a:pPr marL="0" indent="0">
              <a:buNone/>
            </a:pP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These are movies that were  released domestically and internationally.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92622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40E85B-F8B4-EC0B-DD03-CC31D08FAD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IMDB dataset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B51DC1-78B7-A386-E8E8-EA609A4E32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89530"/>
            <a:ext cx="10515600" cy="4351338"/>
          </a:xfrm>
        </p:spPr>
        <p:txBody>
          <a:bodyPr/>
          <a:lstStyle/>
          <a:p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The IMDB data is stored in a SQLite database. </a:t>
            </a:r>
          </a:p>
          <a:p>
            <a:pPr marL="0" indent="0">
              <a:buNone/>
            </a:pP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The database contains multiple tables; however this analysis focuses on:</a:t>
            </a:r>
          </a:p>
          <a:p>
            <a:pPr marL="0" indent="0">
              <a:buNone/>
            </a:pP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pPr marL="514350" indent="-514350">
              <a:buFont typeface="+mj-lt"/>
              <a:buAutoNum type="alphaLcParenR"/>
            </a:pPr>
            <a:r>
              <a:rPr lang="en-US" dirty="0" err="1">
                <a:solidFill>
                  <a:schemeClr val="tx2">
                    <a:lumMod val="75000"/>
                  </a:schemeClr>
                </a:solidFill>
              </a:rPr>
              <a:t>movie_basics</a:t>
            </a: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b)  </a:t>
            </a:r>
            <a:r>
              <a:rPr lang="en-US" dirty="0" err="1">
                <a:solidFill>
                  <a:schemeClr val="tx2">
                    <a:lumMod val="75000"/>
                  </a:schemeClr>
                </a:solidFill>
              </a:rPr>
              <a:t>movie_ratings</a:t>
            </a: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459278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B15876-999F-09EB-2F5A-CE0211C0BC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The Movie Database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8663DC-29F6-41CB-5C92-0D2049ACEB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The TMDB dataset provides detailed information about movies,</a:t>
            </a: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 including popularity metrics and audience ratings.</a:t>
            </a:r>
          </a:p>
          <a:p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 This dataset perfectly complements the IMDB and Box Office Mojo</a:t>
            </a: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 datasets.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008828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C47AC8-37A2-0F24-3E47-FB34118D8A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2371" y="2585811"/>
            <a:ext cx="10515600" cy="1325563"/>
          </a:xfrm>
        </p:spPr>
        <p:txBody>
          <a:bodyPr/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                       DATA ANALYSIS</a:t>
            </a:r>
          </a:p>
        </p:txBody>
      </p:sp>
    </p:spTree>
    <p:extLst>
      <p:ext uri="{BB962C8B-B14F-4D97-AF65-F5344CB8AC3E}">
        <p14:creationId xmlns:p14="http://schemas.microsoft.com/office/powerpoint/2010/main" val="39197188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8B0AEE-1A6A-D4F8-A405-CDD8C255A7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solidFill>
                  <a:schemeClr val="accent4">
                    <a:lumMod val="75000"/>
                  </a:schemeClr>
                </a:solidFill>
              </a:rPr>
              <a:t>Movie_basics</a:t>
            </a: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 dataset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77138C-9111-82AB-146F-408888EAA3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All null values were removed from the </a:t>
            </a:r>
            <a:r>
              <a:rPr lang="en-US" dirty="0" err="1">
                <a:solidFill>
                  <a:schemeClr val="tx2">
                    <a:lumMod val="75000"/>
                  </a:schemeClr>
                </a:solidFill>
              </a:rPr>
              <a:t>movie_basics</a:t>
            </a: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 dataset.</a:t>
            </a:r>
          </a:p>
          <a:p>
            <a:pPr marL="0" indent="0">
              <a:buNone/>
            </a:pP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The </a:t>
            </a:r>
            <a:r>
              <a:rPr lang="en-US" dirty="0" err="1">
                <a:solidFill>
                  <a:schemeClr val="tx2">
                    <a:lumMod val="75000"/>
                  </a:schemeClr>
                </a:solidFill>
              </a:rPr>
              <a:t>original_title</a:t>
            </a: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 column was removed as it held no significance in </a:t>
            </a: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the analysis.</a:t>
            </a:r>
          </a:p>
          <a:p>
            <a:pPr marL="0" indent="0">
              <a:buNone/>
            </a:pP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The dataset did not contain any duplicates.</a:t>
            </a:r>
          </a:p>
        </p:txBody>
      </p:sp>
    </p:spTree>
    <p:extLst>
      <p:ext uri="{BB962C8B-B14F-4D97-AF65-F5344CB8AC3E}">
        <p14:creationId xmlns:p14="http://schemas.microsoft.com/office/powerpoint/2010/main" val="8658924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2EA54D-E863-63B7-F866-870CB75F26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solidFill>
                  <a:schemeClr val="accent4">
                    <a:lumMod val="75000"/>
                  </a:schemeClr>
                </a:solidFill>
              </a:rPr>
              <a:t>Movie_ratings</a:t>
            </a: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 dataset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E1F67B-6737-D5C8-BB13-F236F429CB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The </a:t>
            </a:r>
            <a:r>
              <a:rPr lang="en-US" dirty="0" err="1">
                <a:solidFill>
                  <a:schemeClr val="tx2">
                    <a:lumMod val="75000"/>
                  </a:schemeClr>
                </a:solidFill>
              </a:rPr>
              <a:t>movie_ratings</a:t>
            </a: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 dataset did not contain any null values.</a:t>
            </a:r>
          </a:p>
          <a:p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The </a:t>
            </a:r>
            <a:r>
              <a:rPr lang="en-US" dirty="0" err="1">
                <a:solidFill>
                  <a:schemeClr val="tx2">
                    <a:lumMod val="75000"/>
                  </a:schemeClr>
                </a:solidFill>
              </a:rPr>
              <a:t>movie_basics</a:t>
            </a: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 and </a:t>
            </a:r>
            <a:r>
              <a:rPr lang="en-US" dirty="0" err="1">
                <a:solidFill>
                  <a:schemeClr val="tx2">
                    <a:lumMod val="75000"/>
                  </a:schemeClr>
                </a:solidFill>
              </a:rPr>
              <a:t>movie_ratings</a:t>
            </a: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 were merged using the common</a:t>
            </a:r>
          </a:p>
          <a:p>
            <a:pPr marL="0" indent="0">
              <a:buNone/>
            </a:pP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 column being </a:t>
            </a:r>
            <a:r>
              <a:rPr lang="en-US" i="1" dirty="0" err="1">
                <a:solidFill>
                  <a:schemeClr val="tx2">
                    <a:lumMod val="75000"/>
                  </a:schemeClr>
                </a:solidFill>
              </a:rPr>
              <a:t>movie_id</a:t>
            </a: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 which resulted in rows with</a:t>
            </a:r>
          </a:p>
          <a:p>
            <a:pPr marL="0" indent="0">
              <a:buNone/>
            </a:pP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 matching  </a:t>
            </a:r>
            <a:r>
              <a:rPr lang="en-US" i="1" dirty="0" err="1">
                <a:solidFill>
                  <a:schemeClr val="tx2">
                    <a:lumMod val="75000"/>
                  </a:schemeClr>
                </a:solidFill>
              </a:rPr>
              <a:t>movie_id</a:t>
            </a: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 to be chosen and resulted in</a:t>
            </a:r>
          </a:p>
          <a:p>
            <a:pPr marL="0" indent="0">
              <a:buNone/>
            </a:pP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 the </a:t>
            </a:r>
            <a:r>
              <a:rPr lang="en-US" dirty="0" err="1">
                <a:solidFill>
                  <a:schemeClr val="tx2">
                    <a:lumMod val="75000"/>
                  </a:schemeClr>
                </a:solidFill>
              </a:rPr>
              <a:t>merged_imdb</a:t>
            </a: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 dataset.</a:t>
            </a:r>
          </a:p>
        </p:txBody>
      </p:sp>
    </p:spTree>
    <p:extLst>
      <p:ext uri="{BB962C8B-B14F-4D97-AF65-F5344CB8AC3E}">
        <p14:creationId xmlns:p14="http://schemas.microsoft.com/office/powerpoint/2010/main" val="38847630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6F34CD-3A20-32DE-CD4A-2B4F440A1A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Box Office Mojo Dataset</a:t>
            </a:r>
            <a:br>
              <a:rPr lang="en-US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BC6E36-95BD-2E3E-B9E9-F3B04DFAE0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All null values were removed from the gross dataset.</a:t>
            </a:r>
          </a:p>
          <a:p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The domestic and foreign gross columns were merged and dropped</a:t>
            </a:r>
          </a:p>
          <a:p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 to form a </a:t>
            </a:r>
            <a:r>
              <a:rPr lang="en-US" i="1" dirty="0" err="1">
                <a:solidFill>
                  <a:schemeClr val="tx2">
                    <a:lumMod val="75000"/>
                  </a:schemeClr>
                </a:solidFill>
              </a:rPr>
              <a:t>total_gross</a:t>
            </a: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 column.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06041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FED593-043A-3F2D-845B-C8E117D64F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The Movie Database (</a:t>
            </a:r>
            <a:r>
              <a:rPr lang="en-US" i="1" dirty="0">
                <a:solidFill>
                  <a:schemeClr val="accent4">
                    <a:lumMod val="75000"/>
                  </a:schemeClr>
                </a:solidFill>
              </a:rPr>
              <a:t>TMDB</a:t>
            </a: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)</a:t>
            </a:r>
            <a:br>
              <a:rPr lang="en-US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CD96E7-463D-FD29-5D2B-5D6D38C052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This TMDB dataset did not contain any null values.</a:t>
            </a:r>
          </a:p>
          <a:p>
            <a:pPr marL="0" indent="0">
              <a:buNone/>
            </a:pP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The IMDB and gross datasets were merged using the common</a:t>
            </a:r>
          </a:p>
          <a:p>
            <a:pPr marL="0" indent="0">
              <a:buNone/>
            </a:pP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 columns, title and year, found in both datasets.</a:t>
            </a:r>
          </a:p>
          <a:p>
            <a:pPr marL="0" indent="0">
              <a:buNone/>
            </a:pP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The title column of the TMDB dataset was also merged.</a:t>
            </a:r>
          </a:p>
          <a:p>
            <a:pPr marL="0" indent="0">
              <a:buNone/>
            </a:pP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The final merge resulted in 1424 rows and 9 handpicked columns.</a:t>
            </a:r>
          </a:p>
        </p:txBody>
      </p:sp>
    </p:spTree>
    <p:extLst>
      <p:ext uri="{BB962C8B-B14F-4D97-AF65-F5344CB8AC3E}">
        <p14:creationId xmlns:p14="http://schemas.microsoft.com/office/powerpoint/2010/main" val="222521410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53F1B3-C7F3-E578-5D5F-90D5CA2325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5486" y="2612566"/>
            <a:ext cx="10515600" cy="1325563"/>
          </a:xfrm>
        </p:spPr>
        <p:txBody>
          <a:bodyPr/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                    VISUALIZATIONS</a:t>
            </a:r>
          </a:p>
        </p:txBody>
      </p:sp>
    </p:spTree>
    <p:extLst>
      <p:ext uri="{BB962C8B-B14F-4D97-AF65-F5344CB8AC3E}">
        <p14:creationId xmlns:p14="http://schemas.microsoft.com/office/powerpoint/2010/main" val="220203360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255186-29B0-ABAF-44B1-ADB4268DE3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The visualizations are classified into 2 :</a:t>
            </a:r>
          </a:p>
          <a:p>
            <a:pPr>
              <a:buFont typeface="Wingdings" panose="05000000000000000000" pitchFamily="2" charset="2"/>
              <a:buChar char="v"/>
            </a:pP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pPr>
              <a:buFont typeface="Wingdings" panose="05000000000000000000" pitchFamily="2" charset="2"/>
              <a:buChar char="v"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Financial performance</a:t>
            </a:r>
          </a:p>
          <a:p>
            <a:pPr>
              <a:buFont typeface="Wingdings" panose="05000000000000000000" pitchFamily="2" charset="2"/>
              <a:buChar char="v"/>
            </a:pP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pPr>
              <a:buFont typeface="Wingdings" panose="05000000000000000000" pitchFamily="2" charset="2"/>
              <a:buChar char="v"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Market demand</a:t>
            </a:r>
          </a:p>
        </p:txBody>
      </p:sp>
    </p:spTree>
    <p:extLst>
      <p:ext uri="{BB962C8B-B14F-4D97-AF65-F5344CB8AC3E}">
        <p14:creationId xmlns:p14="http://schemas.microsoft.com/office/powerpoint/2010/main" val="424349130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352E68-A570-1030-3799-416419CD81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9612" y="166822"/>
            <a:ext cx="10515600" cy="1325563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Financial performance</a:t>
            </a:r>
            <a:br>
              <a:rPr lang="en-US" dirty="0">
                <a:solidFill>
                  <a:schemeClr val="accent4">
                    <a:lumMod val="75000"/>
                  </a:schemeClr>
                </a:solidFill>
              </a:rPr>
            </a:b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Ratings Against Gross</a:t>
            </a:r>
            <a:br>
              <a:rPr lang="en-US" dirty="0"/>
            </a:br>
            <a:endParaRPr 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33BDD81D-ED18-56AE-A1C8-B46F9FFDD07D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44896" y="1151643"/>
            <a:ext cx="7205032" cy="53412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1770531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7A9B90-FEC1-433F-A4C7-4EFA15AECD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Finding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38544B-2D69-C84A-6A5D-BC7BDB50EB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351338"/>
          </a:xfrm>
        </p:spPr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5000"/>
                  </a:schemeClr>
                </a:solidFill>
              </a:rPr>
              <a:t>Films with an average rating of 7 do very well in terms</a:t>
            </a:r>
          </a:p>
          <a:p>
            <a:pPr marL="0" indent="0">
              <a:buNone/>
            </a:pPr>
            <a:r>
              <a:rPr lang="en-US" sz="3600" dirty="0">
                <a:solidFill>
                  <a:schemeClr val="tx2">
                    <a:lumMod val="75000"/>
                  </a:schemeClr>
                </a:solidFill>
              </a:rPr>
              <a:t> of gross.</a:t>
            </a:r>
          </a:p>
        </p:txBody>
      </p:sp>
    </p:spTree>
    <p:extLst>
      <p:ext uri="{BB962C8B-B14F-4D97-AF65-F5344CB8AC3E}">
        <p14:creationId xmlns:p14="http://schemas.microsoft.com/office/powerpoint/2010/main" val="71108642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475C49-C1C2-9E36-D560-9DE82BF404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Genre against gross</a:t>
            </a:r>
            <a:br>
              <a:rPr lang="en-US" dirty="0"/>
            </a:br>
            <a:endParaRPr lang="en-US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1906EAAA-FB19-2204-0A50-D9AC5D907DAD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05582" y="1377108"/>
            <a:ext cx="9024080" cy="47998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6455782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5462E4-E142-44C0-311D-CEE7154E82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Finding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7EA5DA-9A33-8B9E-63C9-29CF362165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5000"/>
                  </a:schemeClr>
                </a:solidFill>
              </a:rPr>
              <a:t>Movies with genres centered</a:t>
            </a:r>
          </a:p>
          <a:p>
            <a:pPr marL="0" indent="0">
              <a:buNone/>
            </a:pPr>
            <a:r>
              <a:rPr lang="en-US" sz="3600" dirty="0">
                <a:solidFill>
                  <a:schemeClr val="tx2">
                    <a:lumMod val="75000"/>
                  </a:schemeClr>
                </a:solidFill>
              </a:rPr>
              <a:t> around Action and Adventure generally attain a high</a:t>
            </a:r>
          </a:p>
          <a:p>
            <a:pPr marL="0" indent="0">
              <a:buNone/>
            </a:pPr>
            <a:r>
              <a:rPr lang="en-US" sz="3600" dirty="0">
                <a:solidFill>
                  <a:schemeClr val="tx2">
                    <a:lumMod val="75000"/>
                  </a:schemeClr>
                </a:solidFill>
              </a:rPr>
              <a:t> gross.</a:t>
            </a:r>
          </a:p>
        </p:txBody>
      </p:sp>
    </p:spTree>
    <p:extLst>
      <p:ext uri="{BB962C8B-B14F-4D97-AF65-F5344CB8AC3E}">
        <p14:creationId xmlns:p14="http://schemas.microsoft.com/office/powerpoint/2010/main" val="355171106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382040-9276-357B-F06B-7D818EBF9A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Runtime against Gross</a:t>
            </a:r>
            <a:br>
              <a:rPr lang="en-US" dirty="0"/>
            </a:br>
            <a:endParaRPr lang="en-US" dirty="0"/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49E8B760-68B7-348B-EF1D-ADE028525787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00829" y="1386163"/>
            <a:ext cx="6192579" cy="52314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8138337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2A5BFB-7E41-5C44-B244-BC5DC4A211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Finding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62AE9A-CB91-0D95-F2A1-DDC3273D44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5000"/>
                  </a:schemeClr>
                </a:solidFill>
              </a:rPr>
              <a:t>Movies with a runtime of  100 - 150 minutes are akin</a:t>
            </a:r>
          </a:p>
          <a:p>
            <a:pPr marL="0" indent="0">
              <a:buNone/>
            </a:pPr>
            <a:r>
              <a:rPr lang="en-US" sz="3600" dirty="0">
                <a:solidFill>
                  <a:schemeClr val="tx2">
                    <a:lumMod val="75000"/>
                  </a:schemeClr>
                </a:solidFill>
              </a:rPr>
              <a:t> to  a good grossing movie.</a:t>
            </a:r>
          </a:p>
        </p:txBody>
      </p:sp>
    </p:spTree>
    <p:extLst>
      <p:ext uri="{BB962C8B-B14F-4D97-AF65-F5344CB8AC3E}">
        <p14:creationId xmlns:p14="http://schemas.microsoft.com/office/powerpoint/2010/main" val="164690537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CD8B63-95DB-7B27-094C-C7F2F0F0D5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Studio against Gross</a:t>
            </a:r>
            <a:br>
              <a:rPr lang="en-US" dirty="0"/>
            </a:br>
            <a:endParaRPr lang="en-US" dirty="0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B1952842-0FE6-54CE-D070-303E921CF2A8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09311" y="1287194"/>
            <a:ext cx="8263458" cy="48897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3073382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A46DA8-A269-CDDB-FFF8-5AD1B97303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Finding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5514F8-9444-EA7A-9292-73AE5106B4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5000"/>
                  </a:schemeClr>
                </a:solidFill>
              </a:rPr>
              <a:t>DreamWorks Pictures(</a:t>
            </a:r>
            <a:r>
              <a:rPr lang="en-US" sz="3600" i="1" dirty="0">
                <a:solidFill>
                  <a:schemeClr val="tx2">
                    <a:lumMod val="75000"/>
                  </a:schemeClr>
                </a:solidFill>
              </a:rPr>
              <a:t>P/DW</a:t>
            </a:r>
            <a:r>
              <a:rPr lang="en-US" sz="3600" dirty="0">
                <a:solidFill>
                  <a:schemeClr val="tx2">
                    <a:lumMod val="75000"/>
                  </a:schemeClr>
                </a:solidFill>
              </a:rPr>
              <a:t>) , BV Studios(</a:t>
            </a:r>
            <a:r>
              <a:rPr lang="en-US" sz="3600" i="1" dirty="0">
                <a:solidFill>
                  <a:schemeClr val="tx2">
                    <a:lumMod val="75000"/>
                  </a:schemeClr>
                </a:solidFill>
              </a:rPr>
              <a:t>BV</a:t>
            </a:r>
            <a:r>
              <a:rPr lang="en-US" sz="3600" dirty="0">
                <a:solidFill>
                  <a:schemeClr val="tx2">
                    <a:lumMod val="75000"/>
                  </a:schemeClr>
                </a:solidFill>
              </a:rPr>
              <a:t> )</a:t>
            </a:r>
          </a:p>
          <a:p>
            <a:pPr marL="0" indent="0">
              <a:buNone/>
            </a:pPr>
            <a:r>
              <a:rPr lang="en-US" sz="3600" dirty="0">
                <a:solidFill>
                  <a:schemeClr val="tx2">
                    <a:lumMod val="75000"/>
                  </a:schemeClr>
                </a:solidFill>
              </a:rPr>
              <a:t> and </a:t>
            </a:r>
            <a:r>
              <a:rPr lang="en-US" sz="3600" dirty="0" err="1">
                <a:solidFill>
                  <a:schemeClr val="tx2">
                    <a:lumMod val="75000"/>
                  </a:schemeClr>
                </a:solidFill>
              </a:rPr>
              <a:t>GrtIndia</a:t>
            </a:r>
            <a:r>
              <a:rPr lang="en-US" sz="3600" dirty="0">
                <a:solidFill>
                  <a:schemeClr val="tx2">
                    <a:lumMod val="75000"/>
                  </a:schemeClr>
                </a:solidFill>
              </a:rPr>
              <a:t> consistently produce high grossing films.</a:t>
            </a:r>
          </a:p>
        </p:txBody>
      </p:sp>
    </p:spTree>
    <p:extLst>
      <p:ext uri="{BB962C8B-B14F-4D97-AF65-F5344CB8AC3E}">
        <p14:creationId xmlns:p14="http://schemas.microsoft.com/office/powerpoint/2010/main" val="114269798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C4920C-C463-7681-2F40-A226586456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Popularity against gross</a:t>
            </a:r>
            <a:br>
              <a:rPr lang="en-US" dirty="0"/>
            </a:br>
            <a:endParaRPr lang="en-US" dirty="0"/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070C1CA4-F176-2229-3E80-F9AB81957625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23712" y="1183602"/>
            <a:ext cx="6383490" cy="48979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6687533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028918-4EFC-6311-3305-84190A97E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Finding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F18E79-AC30-4F2F-F935-B751B086AB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5000"/>
                  </a:schemeClr>
                </a:solidFill>
              </a:rPr>
              <a:t>Movies with a popularity of 30 and higher attain a</a:t>
            </a:r>
          </a:p>
          <a:p>
            <a:pPr marL="0" indent="0">
              <a:buNone/>
            </a:pPr>
            <a:r>
              <a:rPr lang="en-US" sz="3600" dirty="0">
                <a:solidFill>
                  <a:schemeClr val="tx2">
                    <a:lumMod val="75000"/>
                  </a:schemeClr>
                </a:solidFill>
              </a:rPr>
              <a:t> high grossing.</a:t>
            </a:r>
          </a:p>
        </p:txBody>
      </p:sp>
    </p:spTree>
    <p:extLst>
      <p:ext uri="{BB962C8B-B14F-4D97-AF65-F5344CB8AC3E}">
        <p14:creationId xmlns:p14="http://schemas.microsoft.com/office/powerpoint/2010/main" val="145026375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8019E0-1CCD-7A16-873B-4F0105DA6B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9728" y="228600"/>
            <a:ext cx="10515600" cy="1325563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Market Demand</a:t>
            </a:r>
            <a:br>
              <a:rPr lang="en-US" dirty="0">
                <a:solidFill>
                  <a:schemeClr val="accent4">
                    <a:lumMod val="75000"/>
                  </a:schemeClr>
                </a:solidFill>
              </a:rPr>
            </a:b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Studio against ratings</a:t>
            </a:r>
            <a:br>
              <a:rPr lang="en-US" dirty="0"/>
            </a:br>
            <a:endParaRPr lang="en-US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C4CD5D-FC84-853C-C6B0-6758885C25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>
              <a:solidFill>
                <a:schemeClr val="accent4">
                  <a:lumMod val="75000"/>
                </a:schemeClr>
              </a:solidFill>
            </a:endParaRPr>
          </a:p>
          <a:p>
            <a:endParaRPr lang="en-US" dirty="0"/>
          </a:p>
        </p:txBody>
      </p:sp>
      <p:pic>
        <p:nvPicPr>
          <p:cNvPr id="6145" name="Picture 1">
            <a:extLst>
              <a:ext uri="{FF2B5EF4-FFF2-40B4-BE49-F238E27FC236}">
                <a16:creationId xmlns:a16="http://schemas.microsoft.com/office/drawing/2014/main" id="{E08E33F4-81D3-1F3B-83FE-5DFB5031B0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33880" y="1686946"/>
            <a:ext cx="8165794" cy="49424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7671014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790361-74AC-E846-67D1-8C36489D14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Findings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5D65F5-59B4-B8F9-6E31-95506FD5E9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3600" dirty="0" err="1">
                <a:solidFill>
                  <a:schemeClr val="tx2">
                    <a:lumMod val="75000"/>
                  </a:schemeClr>
                </a:solidFill>
              </a:rPr>
              <a:t>GrtIndia</a:t>
            </a:r>
            <a:r>
              <a:rPr lang="en-US" sz="3600" dirty="0">
                <a:solidFill>
                  <a:schemeClr val="tx2">
                    <a:lumMod val="75000"/>
                  </a:schemeClr>
                </a:solidFill>
              </a:rPr>
              <a:t>, DreamWorks Pictures(</a:t>
            </a:r>
            <a:r>
              <a:rPr lang="en-US" sz="3600" i="1" dirty="0">
                <a:solidFill>
                  <a:schemeClr val="tx2">
                    <a:lumMod val="75000"/>
                  </a:schemeClr>
                </a:solidFill>
              </a:rPr>
              <a:t>P/DW</a:t>
            </a:r>
            <a:r>
              <a:rPr lang="en-US" sz="3600" dirty="0">
                <a:solidFill>
                  <a:schemeClr val="tx2">
                    <a:lumMod val="75000"/>
                  </a:schemeClr>
                </a:solidFill>
              </a:rPr>
              <a:t>) and Arth</a:t>
            </a:r>
          </a:p>
          <a:p>
            <a:pPr marL="0" indent="0">
              <a:buNone/>
            </a:pPr>
            <a:r>
              <a:rPr lang="en-US" sz="3600" dirty="0">
                <a:solidFill>
                  <a:schemeClr val="tx2">
                    <a:lumMod val="75000"/>
                  </a:schemeClr>
                </a:solidFill>
              </a:rPr>
              <a:t> Studios have the best ratings from movies they have produced</a:t>
            </a:r>
          </a:p>
        </p:txBody>
      </p:sp>
    </p:spTree>
    <p:extLst>
      <p:ext uri="{BB962C8B-B14F-4D97-AF65-F5344CB8AC3E}">
        <p14:creationId xmlns:p14="http://schemas.microsoft.com/office/powerpoint/2010/main" val="44120321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452092-9FC0-2092-14D9-1296FD07D6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Genre against Popularity</a:t>
            </a:r>
            <a:br>
              <a:rPr lang="en-US" dirty="0"/>
            </a:br>
            <a:endParaRPr lang="en-US" dirty="0"/>
          </a:p>
        </p:txBody>
      </p:sp>
      <p:pic>
        <p:nvPicPr>
          <p:cNvPr id="7171" name="Picture 3">
            <a:extLst>
              <a:ext uri="{FF2B5EF4-FFF2-40B4-BE49-F238E27FC236}">
                <a16:creationId xmlns:a16="http://schemas.microsoft.com/office/drawing/2014/main" id="{085CA0FF-0B78-1E74-656E-CDE9FADCF7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28800" y="1200150"/>
            <a:ext cx="8143875" cy="56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94131266-FDE5-32F6-53A4-3F7B5E6DDF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28800" y="1200150"/>
            <a:ext cx="6838950" cy="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10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system-ui"/>
              </a:rPr>
            </a:b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6438011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1D2E2A-A35C-3161-F5D1-EA9BF376F0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Findings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DA06CB-C38E-EBE4-81AF-F56058D268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3600" i="1" dirty="0">
                <a:solidFill>
                  <a:schemeClr val="tx2">
                    <a:lumMod val="75000"/>
                  </a:schemeClr>
                </a:solidFill>
              </a:rPr>
              <a:t>Sci-fi</a:t>
            </a:r>
            <a:r>
              <a:rPr lang="en-US" sz="3600" dirty="0">
                <a:solidFill>
                  <a:schemeClr val="tx2">
                    <a:lumMod val="75000"/>
                  </a:schemeClr>
                </a:solidFill>
              </a:rPr>
              <a:t> , </a:t>
            </a:r>
            <a:r>
              <a:rPr lang="en-US" sz="3600" i="1" dirty="0">
                <a:solidFill>
                  <a:schemeClr val="tx2">
                    <a:lumMod val="75000"/>
                  </a:schemeClr>
                </a:solidFill>
              </a:rPr>
              <a:t>Adventure</a:t>
            </a:r>
            <a:r>
              <a:rPr lang="en-US" sz="3600" dirty="0">
                <a:solidFill>
                  <a:schemeClr val="tx2">
                    <a:lumMod val="75000"/>
                  </a:schemeClr>
                </a:solidFill>
              </a:rPr>
              <a:t> and </a:t>
            </a:r>
            <a:r>
              <a:rPr lang="en-US" sz="3600" i="1" dirty="0">
                <a:solidFill>
                  <a:schemeClr val="tx2">
                    <a:lumMod val="75000"/>
                  </a:schemeClr>
                </a:solidFill>
              </a:rPr>
              <a:t>Action</a:t>
            </a:r>
            <a:r>
              <a:rPr lang="en-US" sz="3600" dirty="0">
                <a:solidFill>
                  <a:schemeClr val="tx2">
                    <a:lumMod val="75000"/>
                  </a:schemeClr>
                </a:solidFill>
              </a:rPr>
              <a:t> movies tend to gain the</a:t>
            </a:r>
          </a:p>
          <a:p>
            <a:pPr marL="0" indent="0">
              <a:buNone/>
            </a:pPr>
            <a:r>
              <a:rPr lang="en-US" sz="3600" dirty="0">
                <a:solidFill>
                  <a:schemeClr val="tx2">
                    <a:lumMod val="75000"/>
                  </a:schemeClr>
                </a:solidFill>
              </a:rPr>
              <a:t> most attention from the audience</a:t>
            </a:r>
          </a:p>
        </p:txBody>
      </p:sp>
    </p:spTree>
    <p:extLst>
      <p:ext uri="{BB962C8B-B14F-4D97-AF65-F5344CB8AC3E}">
        <p14:creationId xmlns:p14="http://schemas.microsoft.com/office/powerpoint/2010/main" val="253365685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B88D40-22B7-7098-B2E6-C8E63FF7A7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Studio against Popularity</a:t>
            </a:r>
            <a:br>
              <a:rPr lang="en-US" dirty="0"/>
            </a:br>
            <a:endParaRPr lang="en-US" dirty="0"/>
          </a:p>
        </p:txBody>
      </p:sp>
      <p:pic>
        <p:nvPicPr>
          <p:cNvPr id="8193" name="Picture 1">
            <a:extLst>
              <a:ext uri="{FF2B5EF4-FFF2-40B4-BE49-F238E27FC236}">
                <a16:creationId xmlns:a16="http://schemas.microsoft.com/office/drawing/2014/main" id="{CED417E9-AF84-54FB-062F-783E2821C5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32192" y="1171575"/>
            <a:ext cx="8143875" cy="56864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2">
            <a:extLst>
              <a:ext uri="{FF2B5EF4-FFF2-40B4-BE49-F238E27FC236}">
                <a16:creationId xmlns:a16="http://schemas.microsoft.com/office/drawing/2014/main" id="{F522C9D6-5D88-2D56-401D-C1387CB9729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32192" y="1171575"/>
            <a:ext cx="6838950" cy="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10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system-ui"/>
              </a:rPr>
            </a:b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0026763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A0BD4B-1D96-BF27-7009-913868488A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Findings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543DFE-0CC7-D886-D66B-25F2591B29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5000"/>
                  </a:schemeClr>
                </a:solidFill>
              </a:rPr>
              <a:t>BV Studios, Metro-Goldwyn-Mayer(</a:t>
            </a:r>
            <a:r>
              <a:rPr lang="en-US" sz="3600" i="1" dirty="0">
                <a:solidFill>
                  <a:schemeClr val="tx2">
                    <a:lumMod val="75000"/>
                  </a:schemeClr>
                </a:solidFill>
              </a:rPr>
              <a:t>MGM</a:t>
            </a:r>
            <a:r>
              <a:rPr lang="en-US" sz="3600" dirty="0">
                <a:solidFill>
                  <a:schemeClr val="tx2">
                    <a:lumMod val="75000"/>
                  </a:schemeClr>
                </a:solidFill>
              </a:rPr>
              <a:t>)</a:t>
            </a:r>
          </a:p>
          <a:p>
            <a:pPr marL="0" indent="0">
              <a:buNone/>
            </a:pPr>
            <a:r>
              <a:rPr lang="en-US" sz="3600" dirty="0">
                <a:solidFill>
                  <a:schemeClr val="tx2">
                    <a:lumMod val="75000"/>
                  </a:schemeClr>
                </a:solidFill>
              </a:rPr>
              <a:t> and Warner Bros(</a:t>
            </a:r>
            <a:r>
              <a:rPr lang="en-US" sz="3600" i="1" dirty="0">
                <a:solidFill>
                  <a:schemeClr val="tx2">
                    <a:lumMod val="75000"/>
                  </a:schemeClr>
                </a:solidFill>
              </a:rPr>
              <a:t>WB</a:t>
            </a:r>
            <a:r>
              <a:rPr lang="en-US" sz="3600" dirty="0">
                <a:solidFill>
                  <a:schemeClr val="tx2">
                    <a:lumMod val="75000"/>
                  </a:schemeClr>
                </a:solidFill>
              </a:rPr>
              <a:t>) dominate the audiences’</a:t>
            </a:r>
          </a:p>
          <a:p>
            <a:pPr marL="0" indent="0">
              <a:buNone/>
            </a:pPr>
            <a:r>
              <a:rPr lang="en-US" sz="3600" dirty="0">
                <a:solidFill>
                  <a:schemeClr val="tx2">
                    <a:lumMod val="75000"/>
                  </a:schemeClr>
                </a:solidFill>
              </a:rPr>
              <a:t> attention.</a:t>
            </a:r>
          </a:p>
        </p:txBody>
      </p:sp>
    </p:spTree>
    <p:extLst>
      <p:ext uri="{BB962C8B-B14F-4D97-AF65-F5344CB8AC3E}">
        <p14:creationId xmlns:p14="http://schemas.microsoft.com/office/powerpoint/2010/main" val="169449156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20045A-3104-683C-325B-5E0F31199C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Runtime against Popularity</a:t>
            </a:r>
            <a:br>
              <a:rPr lang="en-US" dirty="0"/>
            </a:br>
            <a:endParaRPr lang="en-US" dirty="0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A28E4BF5-9C8F-736B-49B3-107837532A7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51682" y="1288973"/>
            <a:ext cx="6838950" cy="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10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system-ui"/>
              </a:rPr>
            </a:b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9219" name="Picture 3">
            <a:extLst>
              <a:ext uri="{FF2B5EF4-FFF2-40B4-BE49-F238E27FC236}">
                <a16:creationId xmlns:a16="http://schemas.microsoft.com/office/drawing/2014/main" id="{79ACBD80-A9E8-0A34-9148-D5C7D1088E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9162" y="1532129"/>
            <a:ext cx="6794606" cy="45620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A3B3230D-6FF0-0D9C-73CE-16BCBE9C31AB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6007068" y="1217147"/>
            <a:ext cx="1504641" cy="4308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10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system-ui"/>
              </a:rPr>
            </a:b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0730370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33CC6E-B731-E516-158C-5BCEB98C04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Findings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53FEA6-17C0-37A9-8642-D0A05B6DC3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Movies with a runtime of 120 and higher are found more popular by</a:t>
            </a: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 the audience</a:t>
            </a:r>
          </a:p>
        </p:txBody>
      </p:sp>
    </p:spTree>
    <p:extLst>
      <p:ext uri="{BB962C8B-B14F-4D97-AF65-F5344CB8AC3E}">
        <p14:creationId xmlns:p14="http://schemas.microsoft.com/office/powerpoint/2010/main" val="279257390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154D70-20F4-10C4-1639-2808D00344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Genre against Runtime</a:t>
            </a:r>
            <a:br>
              <a:rPr lang="en-US" dirty="0"/>
            </a:br>
            <a:endParaRPr lang="en-US" dirty="0"/>
          </a:p>
        </p:txBody>
      </p:sp>
      <p:pic>
        <p:nvPicPr>
          <p:cNvPr id="10241" name="Picture 1">
            <a:extLst>
              <a:ext uri="{FF2B5EF4-FFF2-40B4-BE49-F238E27FC236}">
                <a16:creationId xmlns:a16="http://schemas.microsoft.com/office/drawing/2014/main" id="{911B4297-4E10-0BD4-DFAC-770CEDBF52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4304" y="1027906"/>
            <a:ext cx="8162925" cy="5810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2">
            <a:extLst>
              <a:ext uri="{FF2B5EF4-FFF2-40B4-BE49-F238E27FC236}">
                <a16:creationId xmlns:a16="http://schemas.microsoft.com/office/drawing/2014/main" id="{992529AA-08DC-4AEC-5285-F506D097F9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33040" y="1156771"/>
            <a:ext cx="6838950" cy="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10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system-ui"/>
              </a:rPr>
            </a:b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3556489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D77108-F768-DF47-73AA-000A716F27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Findings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FBE620-832C-3A66-D62F-4D4A81440A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3600" i="1" dirty="0">
                <a:solidFill>
                  <a:schemeClr val="tx2">
                    <a:lumMod val="75000"/>
                  </a:schemeClr>
                </a:solidFill>
              </a:rPr>
              <a:t>Action</a:t>
            </a:r>
            <a:r>
              <a:rPr lang="en-US" sz="3600" dirty="0">
                <a:solidFill>
                  <a:schemeClr val="tx2">
                    <a:lumMod val="75000"/>
                  </a:schemeClr>
                </a:solidFill>
              </a:rPr>
              <a:t>, </a:t>
            </a:r>
            <a:r>
              <a:rPr lang="en-US" sz="3600" i="1" dirty="0">
                <a:solidFill>
                  <a:schemeClr val="tx2">
                    <a:lumMod val="75000"/>
                  </a:schemeClr>
                </a:solidFill>
              </a:rPr>
              <a:t>Adventure</a:t>
            </a:r>
            <a:r>
              <a:rPr lang="en-US" sz="3600" dirty="0">
                <a:solidFill>
                  <a:schemeClr val="tx2">
                    <a:lumMod val="75000"/>
                  </a:schemeClr>
                </a:solidFill>
              </a:rPr>
              <a:t> and </a:t>
            </a:r>
            <a:r>
              <a:rPr lang="en-US" sz="3600" i="1" dirty="0">
                <a:solidFill>
                  <a:schemeClr val="tx2">
                    <a:lumMod val="75000"/>
                  </a:schemeClr>
                </a:solidFill>
              </a:rPr>
              <a:t>Sci-fi</a:t>
            </a:r>
            <a:r>
              <a:rPr lang="en-US" sz="3600" dirty="0">
                <a:solidFill>
                  <a:schemeClr val="tx2">
                    <a:lumMod val="75000"/>
                  </a:schemeClr>
                </a:solidFill>
              </a:rPr>
              <a:t> movies  tend to have a</a:t>
            </a:r>
          </a:p>
          <a:p>
            <a:pPr marL="0" indent="0">
              <a:buNone/>
            </a:pPr>
            <a:r>
              <a:rPr lang="en-US" sz="3600" dirty="0">
                <a:solidFill>
                  <a:schemeClr val="tx2">
                    <a:lumMod val="75000"/>
                  </a:schemeClr>
                </a:solidFill>
              </a:rPr>
              <a:t> runtime  longer than 100 minutes</a:t>
            </a:r>
          </a:p>
        </p:txBody>
      </p:sp>
    </p:spTree>
    <p:extLst>
      <p:ext uri="{BB962C8B-B14F-4D97-AF65-F5344CB8AC3E}">
        <p14:creationId xmlns:p14="http://schemas.microsoft.com/office/powerpoint/2010/main" val="88491381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5532C6-14E9-121C-12CC-3EF372DD40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83029"/>
            <a:ext cx="10515600" cy="4985657"/>
          </a:xfrm>
        </p:spPr>
        <p:txBody>
          <a:bodyPr/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                      </a:t>
            </a:r>
            <a:r>
              <a:rPr lang="en-US" sz="4800" dirty="0">
                <a:solidFill>
                  <a:schemeClr val="accent4">
                    <a:lumMod val="75000"/>
                  </a:schemeClr>
                </a:solidFill>
              </a:rPr>
              <a:t>RECOMMENDATIONS</a:t>
            </a:r>
          </a:p>
        </p:txBody>
      </p:sp>
    </p:spTree>
    <p:extLst>
      <p:ext uri="{BB962C8B-B14F-4D97-AF65-F5344CB8AC3E}">
        <p14:creationId xmlns:p14="http://schemas.microsoft.com/office/powerpoint/2010/main" val="252613703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12F02-B76B-411A-41A3-CFB779B747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571500" indent="-571500">
              <a:buFont typeface="Wingdings" panose="05000000000000000000" pitchFamily="2" charset="2"/>
              <a:buChar char="q"/>
            </a:pPr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Prioritize High Grossing Genres</a:t>
            </a:r>
            <a:br>
              <a:rPr lang="en-US" dirty="0"/>
            </a:br>
            <a:endParaRPr lang="en-US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856592-4799-1B75-8AF4-01901E072B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The studio should prioritize producing films in these genres, particularly</a:t>
            </a:r>
          </a:p>
          <a:p>
            <a:pPr marL="0" indent="0">
              <a:buNone/>
            </a:pP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 for early releases, to maximize return on investment and attract </a:t>
            </a:r>
          </a:p>
          <a:p>
            <a:pPr marL="0" indent="0">
              <a:buNone/>
            </a:pP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 audiences.</a:t>
            </a:r>
          </a:p>
          <a:p>
            <a:pPr marL="0" indent="0">
              <a:buNone/>
            </a:pPr>
            <a:endParaRPr lang="en-US" sz="2400" dirty="0">
              <a:solidFill>
                <a:schemeClr val="accent5">
                  <a:lumMod val="75000"/>
                </a:schemeClr>
              </a:solidFill>
            </a:endParaRP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440283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0B5D72-2416-B45F-B948-05A034179A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571500" indent="-571500">
              <a:buFont typeface="Wingdings" panose="05000000000000000000" pitchFamily="2" charset="2"/>
              <a:buChar char="q"/>
            </a:pPr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Invest in quality to drive revenue</a:t>
            </a:r>
            <a:br>
              <a:rPr lang="en-US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C93337-DB3A-8B05-5847-1984B6E263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Allocate budget toward strong scripts, experienced directors, and</a:t>
            </a:r>
          </a:p>
          <a:p>
            <a:pPr marL="0" indent="0">
              <a:buNone/>
            </a:pP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 higher production quality to improve audience satisfaction rather than</a:t>
            </a:r>
          </a:p>
          <a:p>
            <a:pPr marL="0" indent="0">
              <a:buNone/>
            </a:pP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 focusing solely on quantity of releases.</a:t>
            </a:r>
          </a:p>
        </p:txBody>
      </p:sp>
    </p:spTree>
    <p:extLst>
      <p:ext uri="{BB962C8B-B14F-4D97-AF65-F5344CB8AC3E}">
        <p14:creationId xmlns:p14="http://schemas.microsoft.com/office/powerpoint/2010/main" val="328606861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02EB96-F72C-9C20-89D7-9F66B8907C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571500" indent="-571500">
              <a:buFont typeface="Wingdings" panose="05000000000000000000" pitchFamily="2" charset="2"/>
              <a:buChar char="q"/>
            </a:pPr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 Target Optimal Movie Runtime</a:t>
            </a:r>
            <a:br>
              <a:rPr lang="en-US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09B97E-EB9F-7D6F-6A36-C9F46B8839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The studio should aim to keep most productions over the 120 minute</a:t>
            </a:r>
          </a:p>
          <a:p>
            <a:pPr marL="0" indent="0">
              <a:buNone/>
            </a:pP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 range to balance storytelling, viewer attention, and production costs.</a:t>
            </a:r>
          </a:p>
        </p:txBody>
      </p:sp>
    </p:spTree>
    <p:extLst>
      <p:ext uri="{BB962C8B-B14F-4D97-AF65-F5344CB8AC3E}">
        <p14:creationId xmlns:p14="http://schemas.microsoft.com/office/powerpoint/2010/main" val="172861644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BF754A-ED9F-D10D-CEEA-B0D595B8D7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571500" indent="-571500">
              <a:buFont typeface="Wingdings" panose="05000000000000000000" pitchFamily="2" charset="2"/>
              <a:buChar char="q"/>
            </a:pPr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Learning From Top Studios</a:t>
            </a:r>
            <a:br>
              <a:rPr lang="en-US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A9A0E9-8B33-9757-4622-3876C9F66E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The studio should study their genre focus, franchise development,</a:t>
            </a:r>
          </a:p>
          <a:p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 marketing tactics and consider even partnerships or niche</a:t>
            </a:r>
          </a:p>
          <a:p>
            <a:pPr marL="0" indent="0">
              <a:buNone/>
            </a:pP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 differentiation.</a:t>
            </a:r>
          </a:p>
        </p:txBody>
      </p:sp>
    </p:spTree>
    <p:extLst>
      <p:ext uri="{BB962C8B-B14F-4D97-AF65-F5344CB8AC3E}">
        <p14:creationId xmlns:p14="http://schemas.microsoft.com/office/powerpoint/2010/main" val="316271545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C99CE9-3446-EFCC-8AC3-AF877D9BC4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marL="571500" indent="-571500">
              <a:buFont typeface="Wingdings" panose="05000000000000000000" pitchFamily="2" charset="2"/>
              <a:buChar char="q"/>
            </a:pPr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Use Popularity Driven Data To Guide Greenlighting</a:t>
            </a:r>
            <a:br>
              <a:rPr lang="en-US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27CA4F-1D4F-7C07-E1E5-6D2F83E2F4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The studio should incorporate pre-release popularity signals (social</a:t>
            </a:r>
          </a:p>
          <a:p>
            <a:pPr marL="0" indent="0">
              <a:buNone/>
            </a:pP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 buzz, early screenings, trailers, online engagement) into decision</a:t>
            </a:r>
          </a:p>
          <a:p>
            <a:pPr marL="0" indent="0">
              <a:buNone/>
            </a:pP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-making when selecting projects.</a:t>
            </a:r>
          </a:p>
        </p:txBody>
      </p:sp>
    </p:spTree>
    <p:extLst>
      <p:ext uri="{BB962C8B-B14F-4D97-AF65-F5344CB8AC3E}">
        <p14:creationId xmlns:p14="http://schemas.microsoft.com/office/powerpoint/2010/main" val="303710294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0C14B4-E8B8-6C37-D786-A9DD692D98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571500" indent="-571500">
              <a:buFont typeface="Wingdings" panose="05000000000000000000" pitchFamily="2" charset="2"/>
              <a:buChar char="q"/>
            </a:pPr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Align Genre With Production Planning</a:t>
            </a:r>
            <a:br>
              <a:rPr lang="en-US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2450AB-4732-7BB1-D329-82552677C8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The head of the studio and the executive should plan budgets and</a:t>
            </a:r>
          </a:p>
          <a:p>
            <a:pPr marL="0" indent="0">
              <a:buNone/>
            </a:pP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 schedules according to genre expectations (e.g., longer runtimes for</a:t>
            </a:r>
          </a:p>
          <a:p>
            <a:pPr marL="0" indent="0">
              <a:buNone/>
            </a:pP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 action, adventure and Sci-fi).</a:t>
            </a:r>
          </a:p>
        </p:txBody>
      </p:sp>
    </p:spTree>
    <p:extLst>
      <p:ext uri="{BB962C8B-B14F-4D97-AF65-F5344CB8AC3E}">
        <p14:creationId xmlns:p14="http://schemas.microsoft.com/office/powerpoint/2010/main" val="172432331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BA50DE-2866-E863-FCA5-A14BF4BA23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Future actions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F1F716-E2CB-484E-9237-017C2434E1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Benchmark from top studios</a:t>
            </a:r>
          </a:p>
          <a:p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Keep an eye out for genre trends to predict future demand</a:t>
            </a:r>
          </a:p>
          <a:p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Come up with a runtime guidelines for each genre</a:t>
            </a:r>
          </a:p>
          <a:p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Track trailer views, social media mentions, search trends, and ratings.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629537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2448</TotalTime>
  <Words>1017</Words>
  <Application>Microsoft Office PowerPoint</Application>
  <PresentationFormat>Widescreen</PresentationFormat>
  <Paragraphs>177</Paragraphs>
  <Slides>46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52" baseType="lpstr">
      <vt:lpstr>Arial</vt:lpstr>
      <vt:lpstr>Calibri</vt:lpstr>
      <vt:lpstr>Calibri Light</vt:lpstr>
      <vt:lpstr>system-ui</vt:lpstr>
      <vt:lpstr>Wingdings</vt:lpstr>
      <vt:lpstr>Office Theme</vt:lpstr>
      <vt:lpstr>PowerPoint Presentation</vt:lpstr>
      <vt:lpstr>FILM GENRE ANALYSIS TO INFORM FILM PRODUCTION DECISIONS</vt:lpstr>
      <vt:lpstr>Overview</vt:lpstr>
      <vt:lpstr>Business understanding</vt:lpstr>
      <vt:lpstr>Objectives</vt:lpstr>
      <vt:lpstr>Key questions</vt:lpstr>
      <vt:lpstr>Data Understanding</vt:lpstr>
      <vt:lpstr>Data overview</vt:lpstr>
      <vt:lpstr>Box Office Mojo Dataset</vt:lpstr>
      <vt:lpstr>IMDB dataset</vt:lpstr>
      <vt:lpstr>The Movie Database</vt:lpstr>
      <vt:lpstr>                       DATA ANALYSIS</vt:lpstr>
      <vt:lpstr>Movie_basics dataset</vt:lpstr>
      <vt:lpstr>Movie_ratings dataset</vt:lpstr>
      <vt:lpstr>Box Office Mojo Dataset </vt:lpstr>
      <vt:lpstr>The Movie Database (TMDB) </vt:lpstr>
      <vt:lpstr>                    VISUALIZATIONS</vt:lpstr>
      <vt:lpstr>PowerPoint Presentation</vt:lpstr>
      <vt:lpstr>Financial performance Ratings Against Gross </vt:lpstr>
      <vt:lpstr>Finding</vt:lpstr>
      <vt:lpstr>Genre against gross </vt:lpstr>
      <vt:lpstr>Finding</vt:lpstr>
      <vt:lpstr>Runtime against Gross </vt:lpstr>
      <vt:lpstr>Finding</vt:lpstr>
      <vt:lpstr>Studio against Gross </vt:lpstr>
      <vt:lpstr>Finding</vt:lpstr>
      <vt:lpstr>Popularity against gross </vt:lpstr>
      <vt:lpstr>Finding</vt:lpstr>
      <vt:lpstr>Market Demand Studio against ratings </vt:lpstr>
      <vt:lpstr>Findings</vt:lpstr>
      <vt:lpstr>Genre against Popularity </vt:lpstr>
      <vt:lpstr>Findings</vt:lpstr>
      <vt:lpstr>Studio against Popularity </vt:lpstr>
      <vt:lpstr>Findings</vt:lpstr>
      <vt:lpstr>Runtime against Popularity </vt:lpstr>
      <vt:lpstr>Findings</vt:lpstr>
      <vt:lpstr>Genre against Runtime </vt:lpstr>
      <vt:lpstr>Findings</vt:lpstr>
      <vt:lpstr>                      RECOMMENDATIONS</vt:lpstr>
      <vt:lpstr>Prioritize High Grossing Genres </vt:lpstr>
      <vt:lpstr>Invest in quality to drive revenue </vt:lpstr>
      <vt:lpstr> Target Optimal Movie Runtime </vt:lpstr>
      <vt:lpstr>Learning From Top Studios </vt:lpstr>
      <vt:lpstr>Use Popularity Driven Data To Guide Greenlighting </vt:lpstr>
      <vt:lpstr>Align Genre With Production Planning </vt:lpstr>
      <vt:lpstr>Future actions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hp</dc:creator>
  <cp:lastModifiedBy>hp</cp:lastModifiedBy>
  <cp:revision>9</cp:revision>
  <dcterms:created xsi:type="dcterms:W3CDTF">2026-02-01T15:10:53Z</dcterms:created>
  <dcterms:modified xsi:type="dcterms:W3CDTF">2026-02-03T09:20:48Z</dcterms:modified>
</cp:coreProperties>
</file>