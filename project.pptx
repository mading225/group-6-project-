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58" r:id="rId4"/>
    <p:sldId id="262" r:id="rId5"/>
    <p:sldId id="274" r:id="rId6"/>
    <p:sldId id="260" r:id="rId7"/>
    <p:sldId id="263" r:id="rId8"/>
    <p:sldId id="261" r:id="rId9"/>
    <p:sldId id="265" r:id="rId10"/>
    <p:sldId id="264" r:id="rId11"/>
    <p:sldId id="266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93" r:id="rId21"/>
    <p:sldId id="283" r:id="rId22"/>
    <p:sldId id="294" r:id="rId23"/>
    <p:sldId id="284" r:id="rId24"/>
    <p:sldId id="295" r:id="rId25"/>
    <p:sldId id="285" r:id="rId26"/>
    <p:sldId id="296" r:id="rId27"/>
    <p:sldId id="286" r:id="rId28"/>
    <p:sldId id="297" r:id="rId29"/>
    <p:sldId id="287" r:id="rId30"/>
    <p:sldId id="298" r:id="rId31"/>
    <p:sldId id="288" r:id="rId32"/>
    <p:sldId id="299" r:id="rId33"/>
    <p:sldId id="289" r:id="rId34"/>
    <p:sldId id="300" r:id="rId35"/>
    <p:sldId id="290" r:id="rId36"/>
    <p:sldId id="301" r:id="rId37"/>
    <p:sldId id="291" r:id="rId38"/>
    <p:sldId id="302" r:id="rId39"/>
    <p:sldId id="269" r:id="rId40"/>
    <p:sldId id="267" r:id="rId41"/>
    <p:sldId id="268" r:id="rId42"/>
    <p:sldId id="270" r:id="rId43"/>
    <p:sldId id="271" r:id="rId44"/>
    <p:sldId id="273" r:id="rId45"/>
    <p:sldId id="272" r:id="rId46"/>
    <p:sldId id="292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3" d="100"/>
          <a:sy n="53" d="100"/>
        </p:scale>
        <p:origin x="1176" y="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047E4-A087-34E1-543B-AA9342AE00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B0ABE-A58B-3F8C-4926-913D0F6FC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7F0D6-F688-CB6C-7C71-CE1A14217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78766-F237-A75E-6298-A0C02AB66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5C6F0-888D-1212-B797-4C18FFF8E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54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737F0-486F-FC87-9DA8-4CADAAE80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25631-D99F-FD7D-4EC8-97F8E261C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389BB-25C5-FDE8-8CAE-7B2305FAE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DF7C2-AB8B-B385-B97C-ACD9B062A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6C469-4853-696E-2BC2-C4BCC7259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027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E701C-D90C-6AF4-7916-CB9C1A728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D8F98E-223E-183C-F9C5-F1A816118F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ADC46-83A7-F0CD-7528-C9C0C75F3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64006-AF4C-0FF2-72D9-02407332B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7C1B21-095C-DC12-4318-0C852F3D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449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16967-44D1-32DB-53A0-2A9C9A057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DDF83-A9FD-DE9D-B2BD-039EA96B33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30F6A-A546-B0A3-1CB2-D61534416E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C28216-1D64-0038-8441-3BBE94E7B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4C16A6-152D-7D1F-5B89-7C095AD6F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F7A5A0-4F65-23E7-1808-4077C2651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725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C16E9-A9B3-A4FD-1405-CE36F5474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CA9CAF-68F0-4FF1-82E0-753A7031D0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026FDC-6402-A797-D9F6-3F2A4D3031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B3BDF1-4E0C-6240-CCB0-6EC3727AE2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A3A898-DC7C-186B-1D05-F0F5A09B18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A62226-21E8-EC2A-6804-4B2C2D1F9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B1B2CE-987F-1C77-8E83-CECDB35E8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E628BE-4531-27DD-8EF6-C50C690B0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842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18784-AC9A-E8B9-9914-6237C95B4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982FE2-B0C1-B6C1-344F-F5D9DE07C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0AC09C-1680-61EB-FC6B-50D59A032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CD414-C14F-3C1D-597E-A0788EB4B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535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A019E-D37E-665B-F34B-7D8DB9AD7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B7C12A-C080-1F56-25E9-0AE9AB7F4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18F26-4389-5475-2801-07CBA16D2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906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5780-68ED-509D-FD8F-F7658A748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CCCE9-5C97-4E73-0542-F3C322A3F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C577B9-6335-28BD-2B6E-BFCC1CFD28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C83F29-1A4B-523C-2A39-5681FEBD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811C84-7FE4-AED7-3399-0774AAC7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FD78C3-680A-55E8-0F8C-B8A03EEBA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160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0AA72-B08F-976C-1976-0D8BD3DB2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C0DAAC-93CC-280F-49A8-33947B1A55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0814CF-45E9-6DA9-FBDE-4D4D5961B5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A61BC-22B2-81F3-D923-3C027D880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758C6-CCF2-33F1-60E9-A7DF174FE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EE5B1-64DA-0411-ABCE-5FED9CB72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54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AC650-4AFE-D40B-C26B-D549B9686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4D0B83-BA18-39B0-896D-1CBC2F115E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B18D87-609E-6D2A-DC16-4C15B1477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48BE2-662B-EE26-71DB-68E668D8E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39FE-FB83-1BEF-B501-0D2D50A8E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553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E930CE-5853-2BF3-93C7-1A1A5B8267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202F7C-0AA4-6234-8CA8-9CAAC40C37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285E5-7BC7-A6A3-9093-C54F382DD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D1CF7-36BB-D33D-BD0F-EF75F630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F0EABB-100D-01CD-16EC-8DB099C68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787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EACC05-AD85-6794-9A45-4052636D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4974F6-5813-269D-922A-3B3BCBCD4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5FE833-47CE-642C-292C-0D954ADAD6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3045C-61CB-A3B5-DC32-2A9AEBF937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886D4-A111-0031-1495-6FEEC036E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131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llpaperflare.com/cinema-film-projector-filmstrip-media-cinema-strip-movie-wallpaper-wadpk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mdb.com/" TargetMode="External"/><Relationship Id="rId2" Type="http://schemas.openxmlformats.org/officeDocument/2006/relationships/hyperlink" Target="https://www.boxofficemojo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themoviedb.org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021E499-515B-A4FB-3CE3-D802AFC06C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-4186"/>
            <a:ext cx="12192000" cy="6866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134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560D2-6F04-9605-FD4B-1BFD9CDCA2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5257" y="1948543"/>
            <a:ext cx="9144000" cy="2547257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FILM GENRE ANALYSIS TO INFORM FILM PRODUCTION DECISIONS</a:t>
            </a:r>
          </a:p>
        </p:txBody>
      </p:sp>
    </p:spTree>
    <p:extLst>
      <p:ext uri="{BB962C8B-B14F-4D97-AF65-F5344CB8AC3E}">
        <p14:creationId xmlns:p14="http://schemas.microsoft.com/office/powerpoint/2010/main" val="1380437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545AF-09FC-CC0F-3139-27FF88EC0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8078-D317-BA1C-2A53-71A8575F4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is an analysis of historical movie data to identify patterns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associated with financial success and positive audience reception.</a:t>
            </a:r>
          </a:p>
        </p:txBody>
      </p:sp>
    </p:spTree>
    <p:extLst>
      <p:ext uri="{BB962C8B-B14F-4D97-AF65-F5344CB8AC3E}">
        <p14:creationId xmlns:p14="http://schemas.microsoft.com/office/powerpoint/2010/main" val="2858338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FBC99-BF2B-37EF-B2DD-8F31F08E8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Business understanding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3CEBB-A70F-6288-854F-2BE5DF6A8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 company has come up with a new studio where they intend to create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movies.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They are new to the movie creation space and therefore need to know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the type of films that are doing the best at the box office.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will help the head of the company’s new studio decide on the type of films to create.</a:t>
            </a:r>
          </a:p>
        </p:txBody>
      </p:sp>
    </p:spTree>
    <p:extLst>
      <p:ext uri="{BB962C8B-B14F-4D97-AF65-F5344CB8AC3E}">
        <p14:creationId xmlns:p14="http://schemas.microsoft.com/office/powerpoint/2010/main" val="3014249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DF4D1-39F4-1E63-28FA-7F0FAC2A2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20F88-1783-EE4B-3BD8-84CFD1BF5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project aims to analyze historical movie data to identify patterns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associated with financial success and positive audience reception.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will be through the use of  box office performance and audience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ratings.</a:t>
            </a:r>
          </a:p>
        </p:txBody>
      </p:sp>
    </p:spTree>
    <p:extLst>
      <p:ext uri="{BB962C8B-B14F-4D97-AF65-F5344CB8AC3E}">
        <p14:creationId xmlns:p14="http://schemas.microsoft.com/office/powerpoint/2010/main" val="2045292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B72D6-3363-1B04-74DF-DE5E69DE0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Key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98DB5-3EEA-19F1-5596-08077B029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Which movie genres consistently perform best at the box office?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How does audience reception (ratings and engagement) relate to financial success?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What movie characteristics (such as runtime or release trends) are most associated with successful films?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46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B40EC-EC06-F0DC-D881-96E402A0AE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Understanding</a:t>
            </a:r>
          </a:p>
        </p:txBody>
      </p:sp>
    </p:spTree>
    <p:extLst>
      <p:ext uri="{BB962C8B-B14F-4D97-AF65-F5344CB8AC3E}">
        <p14:creationId xmlns:p14="http://schemas.microsoft.com/office/powerpoint/2010/main" val="40196871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7B792-4B1C-524A-7937-279E4F5E8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B7F5A-2490-5A08-25F9-613BC4EC5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analysis made use of 3 key datasets;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2"/>
              </a:rPr>
              <a:t>https://www.boxofficemojo.com/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3"/>
              </a:rPr>
              <a:t>https://www.imdb.com/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4"/>
              </a:rPr>
              <a:t>https://www.themoviedb.org/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well recognized sources of data ensured that different facets of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film production were considered, hence a well-rounded analysis.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25377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DA0C1-7AE2-9B29-35B5-BE5D92F4E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Box Office Mojo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1AED1-A07C-9C66-9656-A4AB0B29A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dataset contains box office revenue data for movies.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These are movies that were  released domestically and internationally.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262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E85B-F8B4-EC0B-DD03-CC31D08FA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IMDB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B51DC1-78B7-A386-E8E8-EA609A4E3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9530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IMDB data is stored in a SQLite database. 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database contains multiple tables; however this analysis focuses on: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movie_basics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b) 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movie_ratings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4592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15876-999F-09EB-2F5A-CE0211C0B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The Movie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663DC-29F6-41CB-5C92-0D2049ACEB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TMDB dataset provides detailed information about movies,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including popularity metrics and audience ratings.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This dataset perfectly complements the IMDB and Box Office Mojo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datasets.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882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47AC8-37A2-0F24-3E47-FB34118D8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371" y="2585811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                      DATA ANALYSIS</a:t>
            </a:r>
          </a:p>
        </p:txBody>
      </p:sp>
    </p:spTree>
    <p:extLst>
      <p:ext uri="{BB962C8B-B14F-4D97-AF65-F5344CB8AC3E}">
        <p14:creationId xmlns:p14="http://schemas.microsoft.com/office/powerpoint/2010/main" val="39197188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0AEE-1A6A-D4F8-A405-CDD8C255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accent4">
                    <a:lumMod val="75000"/>
                  </a:schemeClr>
                </a:solidFill>
              </a:rPr>
              <a:t>Movie_basics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7138C-9111-82AB-146F-408888EAA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All null values were removed from the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movie_basics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dataset.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original_title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column was removed as it held no significance in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analysis.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dataset did not contain any duplicates.</a:t>
            </a:r>
          </a:p>
        </p:txBody>
      </p:sp>
    </p:spTree>
    <p:extLst>
      <p:ext uri="{BB962C8B-B14F-4D97-AF65-F5344CB8AC3E}">
        <p14:creationId xmlns:p14="http://schemas.microsoft.com/office/powerpoint/2010/main" val="865892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EA54D-E863-63B7-F866-870CB75F2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accent4">
                    <a:lumMod val="75000"/>
                  </a:schemeClr>
                </a:solidFill>
              </a:rPr>
              <a:t>Movie_ratings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1F67B-6737-D5C8-BB13-F236F429C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movie_ratings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dataset did not contain any null values.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movie_basics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and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movie_ratings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were merged using the common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column being </a:t>
            </a:r>
            <a:r>
              <a:rPr lang="en-US" i="1" dirty="0" err="1">
                <a:solidFill>
                  <a:schemeClr val="tx2">
                    <a:lumMod val="75000"/>
                  </a:schemeClr>
                </a:solidFill>
              </a:rPr>
              <a:t>movie_id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 which resulted in rows with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matching  </a:t>
            </a:r>
            <a:r>
              <a:rPr lang="en-US" i="1" dirty="0" err="1">
                <a:solidFill>
                  <a:schemeClr val="tx2">
                    <a:lumMod val="75000"/>
                  </a:schemeClr>
                </a:solidFill>
              </a:rPr>
              <a:t>movie_id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 to be chosen and resulted in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the 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merged_imdb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 dataset.</a:t>
            </a:r>
          </a:p>
        </p:txBody>
      </p:sp>
    </p:spTree>
    <p:extLst>
      <p:ext uri="{BB962C8B-B14F-4D97-AF65-F5344CB8AC3E}">
        <p14:creationId xmlns:p14="http://schemas.microsoft.com/office/powerpoint/2010/main" val="388476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F34CD-3A20-32DE-CD4A-2B4F440A1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Box Office Mojo Dataset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C6E36-95BD-2E3E-B9E9-F3B04DFAE0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All null values were removed from the gross dataset.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domestic and foreign gross columns were merged and dropped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to form a </a:t>
            </a:r>
            <a:r>
              <a:rPr lang="en-US" i="1" dirty="0" err="1">
                <a:solidFill>
                  <a:schemeClr val="tx2">
                    <a:lumMod val="75000"/>
                  </a:schemeClr>
                </a:solidFill>
              </a:rPr>
              <a:t>total_gross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 column.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060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593-043A-3F2D-845B-C8E117D64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The Movie Database (</a:t>
            </a:r>
            <a:r>
              <a:rPr lang="en-US" i="1" dirty="0">
                <a:solidFill>
                  <a:schemeClr val="accent4">
                    <a:lumMod val="75000"/>
                  </a:schemeClr>
                </a:solidFill>
              </a:rPr>
              <a:t>TMDB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)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D96E7-463D-FD29-5D2B-5D6D38C052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TMDB dataset did not contain any null values.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IMDB and gross datasets were merged using the common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columns, title and year, found in both datasets.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title column of the TMDB dataset was also merged.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final merge resulted in 1424 rows and 9 handpicked columns.</a:t>
            </a:r>
          </a:p>
        </p:txBody>
      </p:sp>
    </p:spTree>
    <p:extLst>
      <p:ext uri="{BB962C8B-B14F-4D97-AF65-F5344CB8AC3E}">
        <p14:creationId xmlns:p14="http://schemas.microsoft.com/office/powerpoint/2010/main" val="22252141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F1B3-C7F3-E578-5D5F-90D5CA232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5486" y="2612566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                   VISUALIZATIONS</a:t>
            </a:r>
          </a:p>
        </p:txBody>
      </p:sp>
    </p:spTree>
    <p:extLst>
      <p:ext uri="{BB962C8B-B14F-4D97-AF65-F5344CB8AC3E}">
        <p14:creationId xmlns:p14="http://schemas.microsoft.com/office/powerpoint/2010/main" val="2202033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55186-29B0-ABAF-44B1-ADB4268DE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visualizations are classified into 2 :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Financial performance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Market demand</a:t>
            </a:r>
          </a:p>
        </p:txBody>
      </p:sp>
    </p:spTree>
    <p:extLst>
      <p:ext uri="{BB962C8B-B14F-4D97-AF65-F5344CB8AC3E}">
        <p14:creationId xmlns:p14="http://schemas.microsoft.com/office/powerpoint/2010/main" val="42434913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52E68-A570-1030-3799-416419CD8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612" y="166822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Financial performance</a:t>
            </a:r>
            <a:br>
              <a:rPr lang="en-US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Ratings Against Gross</a:t>
            </a:r>
            <a:br>
              <a:rPr lang="en-US" dirty="0"/>
            </a:b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3BDD81D-ED18-56AE-A1C8-B46F9FFDD07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4896" y="1151643"/>
            <a:ext cx="7205032" cy="5341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77053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9B90-FEC1-433F-A4C7-4EFA15AEC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8544B-2D69-C84A-6A5D-BC7BDB50EB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Films with an average rating of 7 do very well in terms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of gross.</a:t>
            </a:r>
          </a:p>
        </p:txBody>
      </p:sp>
    </p:spTree>
    <p:extLst>
      <p:ext uri="{BB962C8B-B14F-4D97-AF65-F5344CB8AC3E}">
        <p14:creationId xmlns:p14="http://schemas.microsoft.com/office/powerpoint/2010/main" val="711086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75C49-C1C2-9E36-D560-9DE82BF40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Genre against gross</a:t>
            </a:r>
            <a:br>
              <a:rPr lang="en-US" dirty="0"/>
            </a:b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906EAAA-FB19-2204-0A50-D9AC5D907DA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5582" y="1377108"/>
            <a:ext cx="9024080" cy="4799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45578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462E4-E142-44C0-311D-CEE7154E8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EA5DA-9A33-8B9E-63C9-29CF362165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Movies with genres centered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around Action and Adventure generally attain a high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gross.</a:t>
            </a:r>
          </a:p>
        </p:txBody>
      </p:sp>
    </p:spTree>
    <p:extLst>
      <p:ext uri="{BB962C8B-B14F-4D97-AF65-F5344CB8AC3E}">
        <p14:creationId xmlns:p14="http://schemas.microsoft.com/office/powerpoint/2010/main" val="35517110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82040-9276-357B-F06B-7D818EBF9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Runtime against Gross</a:t>
            </a:r>
            <a:br>
              <a:rPr lang="en-US" dirty="0"/>
            </a:br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9E8B760-68B7-348B-EF1D-ADE02852578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0829" y="1386163"/>
            <a:ext cx="6192579" cy="5231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13833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A5BFB-7E41-5C44-B244-BC5DC4A2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2AE9A-CB91-0D95-F2A1-DDC3273D44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Movies with a runtime of  100 - 150 minutes are akin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to  a good grossing movie.</a:t>
            </a:r>
          </a:p>
        </p:txBody>
      </p:sp>
    </p:spTree>
    <p:extLst>
      <p:ext uri="{BB962C8B-B14F-4D97-AF65-F5344CB8AC3E}">
        <p14:creationId xmlns:p14="http://schemas.microsoft.com/office/powerpoint/2010/main" val="16469053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D8B63-95DB-7B27-094C-C7F2F0F0D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Studio against Gross</a:t>
            </a:r>
            <a:br>
              <a:rPr lang="en-US" dirty="0"/>
            </a:b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1952842-0FE6-54CE-D070-303E921CF2A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311" y="1287194"/>
            <a:ext cx="8263458" cy="4889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07338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46DA8-A269-CDDB-FFF8-5AD1B9730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514F8-9444-EA7A-9292-73AE5106B4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DreamWorks Pictures(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P/DW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) , BV Studios(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BV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)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and </a:t>
            </a:r>
            <a:r>
              <a:rPr lang="en-US" sz="3600" dirty="0" err="1">
                <a:solidFill>
                  <a:schemeClr val="tx2">
                    <a:lumMod val="75000"/>
                  </a:schemeClr>
                </a:solidFill>
              </a:rPr>
              <a:t>GrtIndia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consistently produce high grossing films.</a:t>
            </a:r>
          </a:p>
        </p:txBody>
      </p:sp>
    </p:spTree>
    <p:extLst>
      <p:ext uri="{BB962C8B-B14F-4D97-AF65-F5344CB8AC3E}">
        <p14:creationId xmlns:p14="http://schemas.microsoft.com/office/powerpoint/2010/main" val="11426979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4920C-C463-7681-2F40-A226586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Popularity against gross</a:t>
            </a:r>
            <a:br>
              <a:rPr lang="en-US" dirty="0"/>
            </a:br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70C1CA4-F176-2229-3E80-F9AB8195762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3712" y="1183602"/>
            <a:ext cx="6383490" cy="4897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68753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28918-4EFC-6311-3305-84190A97E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18E79-AC30-4F2F-F935-B751B086AB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Movies with a popularity of 30 and higher attain a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high grossing.</a:t>
            </a:r>
          </a:p>
        </p:txBody>
      </p:sp>
    </p:spTree>
    <p:extLst>
      <p:ext uri="{BB962C8B-B14F-4D97-AF65-F5344CB8AC3E}">
        <p14:creationId xmlns:p14="http://schemas.microsoft.com/office/powerpoint/2010/main" val="14502637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019E0-1CCD-7A16-873B-4F0105DA6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28" y="22860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Market Demand</a:t>
            </a:r>
            <a:br>
              <a:rPr lang="en-US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Studio against ratings</a:t>
            </a:r>
            <a:br>
              <a:rPr lang="en-US" dirty="0"/>
            </a:b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4CD5D-FC84-853C-C6B0-6758885C25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solidFill>
                <a:schemeClr val="accent4">
                  <a:lumMod val="75000"/>
                </a:schemeClr>
              </a:solidFill>
            </a:endParaRPr>
          </a:p>
          <a:p>
            <a:endParaRPr lang="en-US" dirty="0"/>
          </a:p>
        </p:txBody>
      </p:sp>
      <p:pic>
        <p:nvPicPr>
          <p:cNvPr id="6145" name="Picture 1">
            <a:extLst>
              <a:ext uri="{FF2B5EF4-FFF2-40B4-BE49-F238E27FC236}">
                <a16:creationId xmlns:a16="http://schemas.microsoft.com/office/drawing/2014/main" id="{E08E33F4-81D3-1F3B-83FE-5DFB5031B0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3880" y="1686946"/>
            <a:ext cx="8165794" cy="4942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67101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90361-74AC-E846-67D1-8C36489D1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D65F5-59B4-B8F9-6E31-95506FD5E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 err="1">
                <a:solidFill>
                  <a:schemeClr val="tx2">
                    <a:lumMod val="75000"/>
                  </a:schemeClr>
                </a:solidFill>
              </a:rPr>
              <a:t>GrtIndia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, DreamWorks Pictures(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P/DW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) and Arth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Studios have the best ratings from movies they have produced</a:t>
            </a:r>
          </a:p>
        </p:txBody>
      </p:sp>
    </p:spTree>
    <p:extLst>
      <p:ext uri="{BB962C8B-B14F-4D97-AF65-F5344CB8AC3E}">
        <p14:creationId xmlns:p14="http://schemas.microsoft.com/office/powerpoint/2010/main" val="4412032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52092-9FC0-2092-14D9-1296FD07D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Genre against Popularity</a:t>
            </a:r>
            <a:br>
              <a:rPr lang="en-US" dirty="0"/>
            </a:br>
            <a:endParaRPr lang="en-US" dirty="0"/>
          </a:p>
        </p:txBody>
      </p:sp>
      <p:pic>
        <p:nvPicPr>
          <p:cNvPr id="7171" name="Picture 3">
            <a:extLst>
              <a:ext uri="{FF2B5EF4-FFF2-40B4-BE49-F238E27FC236}">
                <a16:creationId xmlns:a16="http://schemas.microsoft.com/office/drawing/2014/main" id="{085CA0FF-0B78-1E74-656E-CDE9FADCF7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1200150"/>
            <a:ext cx="8143875" cy="56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4131266-FDE5-32F6-53A4-3F7B5E6DDF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1200150"/>
            <a:ext cx="683895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4380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D2E2A-A35C-3161-F5D1-EA9BF376F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A06CB-C38E-EBE4-81AF-F56058D268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Sci-fi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, 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Adventure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and 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Action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movies tend to gain the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most attention from the audience</a:t>
            </a:r>
          </a:p>
        </p:txBody>
      </p:sp>
    </p:spTree>
    <p:extLst>
      <p:ext uri="{BB962C8B-B14F-4D97-AF65-F5344CB8AC3E}">
        <p14:creationId xmlns:p14="http://schemas.microsoft.com/office/powerpoint/2010/main" val="25336568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88D40-22B7-7098-B2E6-C8E63FF7A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Studio against Popularity</a:t>
            </a:r>
            <a:br>
              <a:rPr lang="en-US" dirty="0"/>
            </a:br>
            <a:endParaRPr lang="en-US" dirty="0"/>
          </a:p>
        </p:txBody>
      </p:sp>
      <p:pic>
        <p:nvPicPr>
          <p:cNvPr id="8193" name="Picture 1">
            <a:extLst>
              <a:ext uri="{FF2B5EF4-FFF2-40B4-BE49-F238E27FC236}">
                <a16:creationId xmlns:a16="http://schemas.microsoft.com/office/drawing/2014/main" id="{CED417E9-AF84-54FB-062F-783E2821C5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2192" y="1171575"/>
            <a:ext cx="8143875" cy="5686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F522C9D6-5D88-2D56-401D-C1387CB972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2192" y="1171575"/>
            <a:ext cx="683895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02676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0BD4B-1D96-BF27-7009-913868488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543DFE-0CC7-D886-D66B-25F2591B29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BV Studios, Metro-Goldwyn-Mayer(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MGM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)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and Warner Bros(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WB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) dominate the audiences’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attention.</a:t>
            </a:r>
          </a:p>
        </p:txBody>
      </p:sp>
    </p:spTree>
    <p:extLst>
      <p:ext uri="{BB962C8B-B14F-4D97-AF65-F5344CB8AC3E}">
        <p14:creationId xmlns:p14="http://schemas.microsoft.com/office/powerpoint/2010/main" val="16944915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0045A-3104-683C-325B-5E0F31199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Runtime against Popularity</a:t>
            </a:r>
            <a:br>
              <a:rPr lang="en-US" dirty="0"/>
            </a:br>
            <a:endParaRPr lang="en-US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28E4BF5-9C8F-736B-49B3-107837532A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1682" y="1288973"/>
            <a:ext cx="683895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219" name="Picture 3">
            <a:extLst>
              <a:ext uri="{FF2B5EF4-FFF2-40B4-BE49-F238E27FC236}">
                <a16:creationId xmlns:a16="http://schemas.microsoft.com/office/drawing/2014/main" id="{79ACBD80-A9E8-0A34-9148-D5C7D1088E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162" y="1532129"/>
            <a:ext cx="6794606" cy="4562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3B3230D-6FF0-0D9C-73CE-16BCBE9C31A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007068" y="1217147"/>
            <a:ext cx="1504641" cy="4308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73037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3CC6E-B731-E516-158C-5BCEB98C0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3FEA6-17C0-37A9-8642-D0A05B6DC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Movies with a runtime of 120 and higher are found more popular by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the audience</a:t>
            </a:r>
          </a:p>
        </p:txBody>
      </p:sp>
    </p:spTree>
    <p:extLst>
      <p:ext uri="{BB962C8B-B14F-4D97-AF65-F5344CB8AC3E}">
        <p14:creationId xmlns:p14="http://schemas.microsoft.com/office/powerpoint/2010/main" val="27925739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54D70-20F4-10C4-1639-2808D0034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Genre against Runtime</a:t>
            </a:r>
            <a:br>
              <a:rPr lang="en-US" dirty="0"/>
            </a:br>
            <a:endParaRPr lang="en-US" dirty="0"/>
          </a:p>
        </p:txBody>
      </p:sp>
      <p:pic>
        <p:nvPicPr>
          <p:cNvPr id="10241" name="Picture 1">
            <a:extLst>
              <a:ext uri="{FF2B5EF4-FFF2-40B4-BE49-F238E27FC236}">
                <a16:creationId xmlns:a16="http://schemas.microsoft.com/office/drawing/2014/main" id="{911B4297-4E10-0BD4-DFAC-770CEDBF52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04" y="1027906"/>
            <a:ext cx="8162925" cy="581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992529AA-08DC-4AEC-5285-F506D097F9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040" y="1156771"/>
            <a:ext cx="683895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55648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77108-F768-DF47-73AA-000A716F2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BE620-832C-3A66-D62F-4D4A81440A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Action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, 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Adventure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and 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Sci-fi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movies  tend to have a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runtime  longer than 100 minutes</a:t>
            </a:r>
          </a:p>
        </p:txBody>
      </p:sp>
    </p:spTree>
    <p:extLst>
      <p:ext uri="{BB962C8B-B14F-4D97-AF65-F5344CB8AC3E}">
        <p14:creationId xmlns:p14="http://schemas.microsoft.com/office/powerpoint/2010/main" val="8849138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532C6-14E9-121C-12CC-3EF372DD4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3029"/>
            <a:ext cx="10515600" cy="4985657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                     </a:t>
            </a:r>
            <a:r>
              <a:rPr lang="en-US" sz="4800" dirty="0">
                <a:solidFill>
                  <a:schemeClr val="accent4">
                    <a:lumMod val="75000"/>
                  </a:schemeClr>
                </a:solidFill>
              </a:rPr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5261370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12F02-B76B-411A-41A3-CFB779B7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Prioritize High Grossing Genres</a:t>
            </a:r>
            <a:br>
              <a:rPr lang="en-US" dirty="0"/>
            </a:br>
            <a:endParaRPr lang="en-US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56592-4799-1B75-8AF4-01901E072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prioritize producing films in these genres, particularly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for early releases, to maximize return on investment and attract 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audiences.</a:t>
            </a:r>
          </a:p>
          <a:p>
            <a:pPr marL="0" indent="0">
              <a:buNone/>
            </a:pPr>
            <a:endParaRPr lang="en-US" sz="2400" dirty="0">
              <a:solidFill>
                <a:schemeClr val="accent5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4028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B5D72-2416-B45F-B948-05A034179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Invest in quality to drive revenue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93337-DB3A-8B05-5847-1984B6E26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Allocate budget toward strong scripts, experienced directors, and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higher production quality to improve audience satisfaction rather than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focusing solely on quantity of releases.</a:t>
            </a:r>
          </a:p>
        </p:txBody>
      </p:sp>
    </p:spTree>
    <p:extLst>
      <p:ext uri="{BB962C8B-B14F-4D97-AF65-F5344CB8AC3E}">
        <p14:creationId xmlns:p14="http://schemas.microsoft.com/office/powerpoint/2010/main" val="32860686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2EB96-F72C-9C20-89D7-9F66B8907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 Target Optimal Movie Runtime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9B97E-EB9F-7D6F-6A36-C9F46B883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aim to keep most productions over the 120 minute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range to balance storytelling, viewer attention, and production costs.</a:t>
            </a:r>
          </a:p>
        </p:txBody>
      </p:sp>
    </p:spTree>
    <p:extLst>
      <p:ext uri="{BB962C8B-B14F-4D97-AF65-F5344CB8AC3E}">
        <p14:creationId xmlns:p14="http://schemas.microsoft.com/office/powerpoint/2010/main" val="17286164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F754A-ED9F-D10D-CEEA-B0D595B8D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Learning From Top Studios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9A0E9-8B33-9757-4622-3876C9F6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study their genre focus, franchise development,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marketing tactics and consider even partnerships or niche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differentiation.</a:t>
            </a:r>
          </a:p>
        </p:txBody>
      </p:sp>
    </p:spTree>
    <p:extLst>
      <p:ext uri="{BB962C8B-B14F-4D97-AF65-F5344CB8AC3E}">
        <p14:creationId xmlns:p14="http://schemas.microsoft.com/office/powerpoint/2010/main" val="31627154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99CE9-3446-EFCC-8AC3-AF877D9BC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Use Popularity Driven Data To Guide Greenlighting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7CA4F-1D4F-7C07-E1E5-6D2F83E2F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incorporate pre-release popularity signals (social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buzz, early screenings, trailers, online engagement) into decision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-making when selecting projects.</a:t>
            </a:r>
          </a:p>
        </p:txBody>
      </p:sp>
    </p:spTree>
    <p:extLst>
      <p:ext uri="{BB962C8B-B14F-4D97-AF65-F5344CB8AC3E}">
        <p14:creationId xmlns:p14="http://schemas.microsoft.com/office/powerpoint/2010/main" val="30371029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C14B4-E8B8-6C37-D786-A9DD692D9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Align Genre With Production Planning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450AB-4732-7BB1-D329-82552677C8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head of the studio and the executive should plan budgets and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schedules according to genre expectations (e.g., longer runtimes for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action, adventure and Sci-fi).</a:t>
            </a:r>
          </a:p>
        </p:txBody>
      </p:sp>
    </p:spTree>
    <p:extLst>
      <p:ext uri="{BB962C8B-B14F-4D97-AF65-F5344CB8AC3E}">
        <p14:creationId xmlns:p14="http://schemas.microsoft.com/office/powerpoint/2010/main" val="17243233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A50DE-2866-E863-FCA5-A14BF4BA2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Future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1F716-E2CB-484E-9237-017C2434E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953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</TotalTime>
  <Words>979</Words>
  <Application>Microsoft Office PowerPoint</Application>
  <PresentationFormat>Widescreen</PresentationFormat>
  <Paragraphs>173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2" baseType="lpstr">
      <vt:lpstr>Arial</vt:lpstr>
      <vt:lpstr>Calibri</vt:lpstr>
      <vt:lpstr>Calibri Light</vt:lpstr>
      <vt:lpstr>system-ui</vt:lpstr>
      <vt:lpstr>Wingdings</vt:lpstr>
      <vt:lpstr>Office Theme</vt:lpstr>
      <vt:lpstr>PowerPoint Presentation</vt:lpstr>
      <vt:lpstr>FILM GENRE ANALYSIS TO INFORM FILM PRODUCTION DECISIONS</vt:lpstr>
      <vt:lpstr>Overview</vt:lpstr>
      <vt:lpstr>Business understanding</vt:lpstr>
      <vt:lpstr>Objectives</vt:lpstr>
      <vt:lpstr>Key questions</vt:lpstr>
      <vt:lpstr>Data Understanding</vt:lpstr>
      <vt:lpstr>Data overview</vt:lpstr>
      <vt:lpstr>Box Office Mojo Dataset</vt:lpstr>
      <vt:lpstr>IMDB dataset</vt:lpstr>
      <vt:lpstr>The Movie Database</vt:lpstr>
      <vt:lpstr>                       DATA ANALYSIS</vt:lpstr>
      <vt:lpstr>Movie_basics dataset</vt:lpstr>
      <vt:lpstr>Movie_ratings dataset</vt:lpstr>
      <vt:lpstr>Box Office Mojo Dataset </vt:lpstr>
      <vt:lpstr>The Movie Database (TMDB) </vt:lpstr>
      <vt:lpstr>                    VISUALIZATIONS</vt:lpstr>
      <vt:lpstr>PowerPoint Presentation</vt:lpstr>
      <vt:lpstr>Financial performance Ratings Against Gross </vt:lpstr>
      <vt:lpstr>Finding</vt:lpstr>
      <vt:lpstr>Genre against gross </vt:lpstr>
      <vt:lpstr>Finding</vt:lpstr>
      <vt:lpstr>Runtime against Gross </vt:lpstr>
      <vt:lpstr>Finding</vt:lpstr>
      <vt:lpstr>Studio against Gross </vt:lpstr>
      <vt:lpstr>Finding</vt:lpstr>
      <vt:lpstr>Popularity against gross </vt:lpstr>
      <vt:lpstr>Finding</vt:lpstr>
      <vt:lpstr>Market Demand Studio against ratings </vt:lpstr>
      <vt:lpstr>Findings</vt:lpstr>
      <vt:lpstr>Genre against Popularity </vt:lpstr>
      <vt:lpstr>Findings</vt:lpstr>
      <vt:lpstr>Studio against Popularity </vt:lpstr>
      <vt:lpstr>Findings</vt:lpstr>
      <vt:lpstr>Runtime against Popularity </vt:lpstr>
      <vt:lpstr>Findings</vt:lpstr>
      <vt:lpstr>Genre against Runtime </vt:lpstr>
      <vt:lpstr>Findings</vt:lpstr>
      <vt:lpstr>                      RECOMMENDATIONS</vt:lpstr>
      <vt:lpstr>Prioritize High Grossing Genres </vt:lpstr>
      <vt:lpstr>Invest in quality to drive revenue </vt:lpstr>
      <vt:lpstr> Target Optimal Movie Runtime </vt:lpstr>
      <vt:lpstr>Learning From Top Studios </vt:lpstr>
      <vt:lpstr>Use Popularity Driven Data To Guide Greenlighting </vt:lpstr>
      <vt:lpstr>Align Genre With Production Planning </vt:lpstr>
      <vt:lpstr>Future actions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</dc:creator>
  <cp:lastModifiedBy>hp</cp:lastModifiedBy>
  <cp:revision>8</cp:revision>
  <dcterms:created xsi:type="dcterms:W3CDTF">2026-02-01T15:10:53Z</dcterms:created>
  <dcterms:modified xsi:type="dcterms:W3CDTF">2026-02-03T09:06:02Z</dcterms:modified>
</cp:coreProperties>
</file>